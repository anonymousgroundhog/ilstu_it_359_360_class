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56.xml" ContentType="application/vnd.openxmlformats-officedocument.presentationml.slide+xml"/>
  <Override PartName="/ppt/slides/slide43.xml" ContentType="application/vnd.openxmlformats-officedocument.presentationml.slide+xml"/>
  <Override PartName="/ppt/slides/slide8.xml" ContentType="application/vnd.openxmlformats-officedocument.presentationml.slide+xml"/>
  <Override PartName="/ppt/slides/slide15.xml" ContentType="application/vnd.openxmlformats-officedocument.presentationml.slide+xml"/>
  <Override PartName="/ppt/slides/slide47.xml" ContentType="application/vnd.openxmlformats-officedocument.presentationml.slide+xml"/>
  <Override PartName="/ppt/slides/slide42.xml" ContentType="application/vnd.openxmlformats-officedocument.presentationml.slide+xml"/>
  <Override PartName="/ppt/slides/slide7.xml" ContentType="application/vnd.openxmlformats-officedocument.presentationml.slide+xml"/>
  <Override PartName="/ppt/slides/slide14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41.xml" ContentType="application/vnd.openxmlformats-officedocument.presentationml.slide+xml"/>
  <Override PartName="/ppt/slides/slide40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60.xml" ContentType="application/vnd.openxmlformats-officedocument.presentationml.slide+xml"/>
  <Override PartName="/ppt/slides/slide20.xml" ContentType="application/vnd.openxmlformats-officedocument.presentationml.slide+xml"/>
  <Override PartName="/ppt/slides/slide57.xml" ContentType="application/vnd.openxmlformats-officedocument.presentationml.slide+xml"/>
  <Override PartName="/ppt/slides/slide25.xml" ContentType="application/vnd.openxmlformats-officedocument.presentationml.slide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4.xml" ContentType="application/vnd.openxmlformats-officedocument.presentationml.slide+xml"/>
  <Override PartName="/ppt/slides/slide59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58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48.xml" ContentType="application/vnd.openxmlformats-officedocument.presentationml.slide+xml"/>
  <Override PartName="/ppt/slides/slide16.xml" ContentType="application/vnd.openxmlformats-officedocument.presentationml.slide+xml"/>
  <Override PartName="/ppt/slides/slide9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12.xml" ContentType="application/vnd.openxmlformats-officedocument.presentationml.slide+xml"/>
  <Override PartName="/ppt/slides/slide49.xml" ContentType="application/vnd.openxmlformats-officedocument.presentationml.slide+xml"/>
  <Override PartName="/ppt/slides/_rels/slide52.xml.rels" ContentType="application/vnd.openxmlformats-package.relationships+xml"/>
  <Override PartName="/ppt/slides/_rels/slide27.xml.rels" ContentType="application/vnd.openxmlformats-package.relationships+xml"/>
  <Override PartName="/ppt/slides/_rels/slide2.xml.rels" ContentType="application/vnd.openxmlformats-package.relationships+xml"/>
  <Override PartName="/ppt/slides/_rels/slide8.xml.rels" ContentType="application/vnd.openxmlformats-package.relationships+xml"/>
  <Override PartName="/ppt/slides/_rels/slide43.xml.rels" ContentType="application/vnd.openxmlformats-package.relationships+xml"/>
  <Override PartName="/ppt/slides/_rels/slide36.xml.rels" ContentType="application/vnd.openxmlformats-package.relationships+xml"/>
  <Override PartName="/ppt/slides/_rels/slide21.xml.rels" ContentType="application/vnd.openxmlformats-package.relationships+xml"/>
  <Override PartName="/ppt/slides/_rels/slide17.xml.rels" ContentType="application/vnd.openxmlformats-package.relationships+xml"/>
  <Override PartName="/ppt/slides/_rels/slide11.xml.rels" ContentType="application/vnd.openxmlformats-package.relationships+xml"/>
  <Override PartName="/ppt/slides/_rels/slide26.xml.rels" ContentType="application/vnd.openxmlformats-package.relationships+xml"/>
  <Override PartName="/ppt/slides/_rels/slide12.xml.rels" ContentType="application/vnd.openxmlformats-package.relationships+xml"/>
  <Override PartName="/ppt/slides/_rels/slide48.xml.rels" ContentType="application/vnd.openxmlformats-package.relationships+xml"/>
  <Override PartName="/ppt/slides/_rels/slide55.xml.rels" ContentType="application/vnd.openxmlformats-package.relationships+xml"/>
  <Override PartName="/ppt/slides/_rels/slide40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41.xml.rels" ContentType="application/vnd.openxmlformats-package.relationships+xml"/>
  <Override PartName="/ppt/slides/_rels/slide50.xml.rels" ContentType="application/vnd.openxmlformats-package.relationships+xml"/>
  <Override PartName="/ppt/slides/_rels/slide34.xml.rels" ContentType="application/vnd.openxmlformats-package.relationships+xml"/>
  <Override PartName="/ppt/slides/_rels/slide49.xml.rels" ContentType="application/vnd.openxmlformats-package.relationships+xml"/>
  <Override PartName="/ppt/slides/_rels/slide15.xml.rels" ContentType="application/vnd.openxmlformats-package.relationships+xml"/>
  <Override PartName="/ppt/slides/_rels/slide31.xml.rels" ContentType="application/vnd.openxmlformats-package.relationships+xml"/>
  <Override PartName="/ppt/slides/_rels/slide24.xml.rels" ContentType="application/vnd.openxmlformats-package.relationships+xml"/>
  <Override PartName="/ppt/slides/_rels/slide39.xml.rels" ContentType="application/vnd.openxmlformats-package.relationships+xml"/>
  <Override PartName="/ppt/slides/_rels/slide47.xml.rels" ContentType="application/vnd.openxmlformats-package.relationships+xml"/>
  <Override PartName="/ppt/slides/_rels/slide54.xml.rels" ContentType="application/vnd.openxmlformats-package.relationships+xml"/>
  <Override PartName="/ppt/slides/_rels/slide4.xml.rels" ContentType="application/vnd.openxmlformats-package.relationships+xml"/>
  <Override PartName="/ppt/slides/_rels/slide57.xml.rels" ContentType="application/vnd.openxmlformats-package.relationships+xml"/>
  <Override PartName="/ppt/slides/_rels/slide7.xml.rels" ContentType="application/vnd.openxmlformats-package.relationships+xml"/>
  <Override PartName="/ppt/slides/_rels/slide42.xml.rels" ContentType="application/vnd.openxmlformats-package.relationships+xml"/>
  <Override PartName="/ppt/slides/_rels/slide51.xml.rels" ContentType="application/vnd.openxmlformats-package.relationships+xml"/>
  <Override PartName="/ppt/slides/_rels/slide35.xml.rels" ContentType="application/vnd.openxmlformats-package.relationships+xml"/>
  <Override PartName="/ppt/slides/_rels/slide14.xml.rels" ContentType="application/vnd.openxmlformats-package.relationships+xml"/>
  <Override PartName="/ppt/slides/_rels/slide33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38.xml.rels" ContentType="application/vnd.openxmlformats-package.relationships+xml"/>
  <Override PartName="/ppt/slides/_rels/slide45.xml.rels" ContentType="application/vnd.openxmlformats-package.relationships+xml"/>
  <Override PartName="/ppt/slides/_rels/slide28.xml.rels" ContentType="application/vnd.openxmlformats-package.relationships+xml"/>
  <Override PartName="/ppt/slides/_rels/slide18.xml.rels" ContentType="application/vnd.openxmlformats-package.relationships+xml"/>
  <Override PartName="/ppt/slides/_rels/slide22.xml.rels" ContentType="application/vnd.openxmlformats-package.relationships+xml"/>
  <Override PartName="/ppt/slides/_rels/slide3.xml.rels" ContentType="application/vnd.openxmlformats-package.relationships+xml"/>
  <Override PartName="/ppt/slides/_rels/slide9.xml.rels" ContentType="application/vnd.openxmlformats-package.relationships+xml"/>
  <Override PartName="/ppt/slides/_rels/slide44.xml.rels" ContentType="application/vnd.openxmlformats-package.relationships+xml"/>
  <Override PartName="/ppt/slides/_rels/slide37.xml.rels" ContentType="application/vnd.openxmlformats-package.relationships+xml"/>
  <Override PartName="/ppt/slides/_rels/slide25.xml.rels" ContentType="application/vnd.openxmlformats-package.relationships+xml"/>
  <Override PartName="/ppt/slides/_rels/slide20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32.xml.rels" ContentType="application/vnd.openxmlformats-package.relationships+xml"/>
  <Override PartName="/ppt/slides/_rels/slide56.xml.rels" ContentType="application/vnd.openxmlformats-package.relationships+xml"/>
  <Override PartName="/ppt/slides/_rels/slide60.xml.rels" ContentType="application/vnd.openxmlformats-package.relationships+xml"/>
  <Override PartName="/ppt/slides/_rels/slide10.xml.rels" ContentType="application/vnd.openxmlformats-package.relationships+xml"/>
  <Override PartName="/ppt/slides/_rels/slide59.xml.rels" ContentType="application/vnd.openxmlformats-package.relationships+xml"/>
  <Override PartName="/ppt/slides/_rels/slide58.xml.rels" ContentType="application/vnd.openxmlformats-package.relationships+xml"/>
  <Override PartName="/ppt/slides/_rels/slide23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46.xml.rels" ContentType="application/vnd.openxmlformats-package.relationships+xml"/>
  <Override PartName="/ppt/slides/_rels/slide53.xml.rels" ContentType="application/vnd.openxmlformats-package.relationships+xml"/>
  <Override PartName="/ppt/slides/slide6.xml" ContentType="application/vnd.openxmlformats-officedocument.presentationml.slide+xml"/>
  <Override PartName="/ppt/slides/slide1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5.xml"/><Relationship Id="rId58" Type="http://schemas.openxmlformats.org/officeDocument/2006/relationships/slide" Target="slides/slide56.xml"/><Relationship Id="rId59" Type="http://schemas.openxmlformats.org/officeDocument/2006/relationships/slide" Target="slides/slide57.xml"/><Relationship Id="rId60" Type="http://schemas.openxmlformats.org/officeDocument/2006/relationships/slide" Target="slides/slide58.xml"/><Relationship Id="rId61" Type="http://schemas.openxmlformats.org/officeDocument/2006/relationships/slide" Target="slides/slide59.xml"/><Relationship Id="rId62" Type="http://schemas.openxmlformats.org/officeDocument/2006/relationships/slide" Target="slides/slide60.xml"/><Relationship Id="rId6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CE44DF-8C14-499B-965D-7821582EAD5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9DD3D5-F35D-4487-A079-BC5D9F50E2C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5462134-7461-47FB-BF01-DB811C5CEA9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D3BDCCC-E6CC-403D-ABB8-110CE5CF687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479822-BC6C-48FE-AAE2-C5F9A2B2E2A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D70B6C0-8DD1-44F1-A694-98AC88F7166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EB78C3A-9303-4229-B018-C45E64710B6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E807A6-3695-4CBD-B6F4-2B8DD7C2A31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3624E48-7F70-4476-8CEA-F7600D1C51B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8BC0F3-3644-4440-8C85-F1F27F5012F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33A2BCB-A822-47D0-8A82-5CDB58D24D8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DDFBAAB-0038-48C0-81E2-029F5A73E74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6B21C73-868B-41FB-996E-A0929C312CFB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" name="TextBox 2"/>
          <p:cNvSpPr/>
          <p:nvPr/>
        </p:nvSpPr>
        <p:spPr>
          <a:xfrm>
            <a:off x="-10800" y="2286000"/>
            <a:ext cx="1218276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ffffff"/>
                </a:solidFill>
                <a:latin typeface="Calibri"/>
              </a:rPr>
              <a:t>Chapter 1: Computer Forensics</a:t>
            </a:r>
            <a:endParaRPr b="0" lang="en-US" sz="5400" spc="-1" strike="noStrike">
              <a:latin typeface="Arial"/>
            </a:endParaRPr>
          </a:p>
        </p:txBody>
      </p:sp>
      <p:sp>
        <p:nvSpPr>
          <p:cNvPr id="43" name="TextBox 3"/>
          <p:cNvSpPr/>
          <p:nvPr/>
        </p:nvSpPr>
        <p:spPr>
          <a:xfrm>
            <a:off x="2835360" y="3657600"/>
            <a:ext cx="649044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bed9f2"/>
                </a:solidFill>
                <a:latin typeface="Calibri"/>
              </a:rPr>
              <a:t>Foundations of Digital Investigation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4" name="Rectangle 4"/>
          <p:cNvSpPr/>
          <p:nvPr/>
        </p:nvSpPr>
        <p:spPr>
          <a:xfrm>
            <a:off x="731520" y="3611880"/>
            <a:ext cx="2285640" cy="45360"/>
          </a:xfrm>
          <a:prstGeom prst="rect">
            <a:avLst/>
          </a:prstGeom>
          <a:solidFill>
            <a:srgbClr val="1e6f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2f6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6" name="Rectangle 2"/>
          <p:cNvSpPr/>
          <p:nvPr/>
        </p:nvSpPr>
        <p:spPr>
          <a:xfrm>
            <a:off x="0" y="0"/>
            <a:ext cx="12191400" cy="91404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7" name="TextBox 3"/>
          <p:cNvSpPr/>
          <p:nvPr/>
        </p:nvSpPr>
        <p:spPr>
          <a:xfrm>
            <a:off x="4357080" y="182880"/>
            <a:ext cx="344700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Topics Covered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48" name="TextBox 4"/>
          <p:cNvSpPr/>
          <p:nvPr/>
        </p:nvSpPr>
        <p:spPr>
          <a:xfrm>
            <a:off x="548640" y="1188720"/>
            <a:ext cx="11063880" cy="21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What is computer forensics?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Knowledge needed for the field of digital forensics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Knowledge needed for forensic analysis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The Daubert standard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Relevant US laws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Federal guidelines (FBI, Secret Service)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9" name="Rectangl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0" name="TextBox 6"/>
          <p:cNvSpPr/>
          <p:nvPr/>
        </p:nvSpPr>
        <p:spPr>
          <a:xfrm>
            <a:off x="4288320" y="6565320"/>
            <a:ext cx="358416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IT 359/360  •  Chapter 1: Computer Forensics  •  2/58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2f6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2" name="Rectangle 2"/>
          <p:cNvSpPr/>
          <p:nvPr/>
        </p:nvSpPr>
        <p:spPr>
          <a:xfrm>
            <a:off x="0" y="0"/>
            <a:ext cx="12191400" cy="91404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3" name="TextBox 3"/>
          <p:cNvSpPr/>
          <p:nvPr/>
        </p:nvSpPr>
        <p:spPr>
          <a:xfrm>
            <a:off x="4363920" y="182880"/>
            <a:ext cx="343296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Learning Goals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54" name="TextBox 4"/>
          <p:cNvSpPr/>
          <p:nvPr/>
        </p:nvSpPr>
        <p:spPr>
          <a:xfrm>
            <a:off x="548640" y="1188720"/>
            <a:ext cx="11063880" cy="14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Understand basic concepts of forensics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Maintain the chain of custody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Understand basic hardware &amp; networking knowledge needed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Know basic laws related to computer forensics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5" name="Rectangl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6" name="TextBox 6"/>
          <p:cNvSpPr/>
          <p:nvPr/>
        </p:nvSpPr>
        <p:spPr>
          <a:xfrm>
            <a:off x="4288320" y="6565320"/>
            <a:ext cx="358416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IT 359/360  •  Chapter 1: Computer Forensics  •  3/58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e6f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8" name="TextBox 2"/>
          <p:cNvSpPr/>
          <p:nvPr/>
        </p:nvSpPr>
        <p:spPr>
          <a:xfrm>
            <a:off x="989640" y="2743200"/>
            <a:ext cx="1018152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4800" spc="-1" strike="noStrike">
                <a:solidFill>
                  <a:srgbClr val="ffffff"/>
                </a:solidFill>
                <a:latin typeface="Calibri"/>
              </a:rPr>
              <a:t>What is Computer Forensics?</a:t>
            </a:r>
            <a:endParaRPr b="0" lang="en-US" sz="4800" spc="-1" strike="noStrike">
              <a:latin typeface="Arial"/>
            </a:endParaRPr>
          </a:p>
        </p:txBody>
      </p:sp>
      <p:sp>
        <p:nvSpPr>
          <p:cNvPr id="59" name="Rectangle 3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0" name="TextBox 4"/>
          <p:cNvSpPr/>
          <p:nvPr/>
        </p:nvSpPr>
        <p:spPr>
          <a:xfrm>
            <a:off x="4288320" y="6565320"/>
            <a:ext cx="358416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IT 359/360  •  Chapter 1: Computer Forensics  •  4/58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2f6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2" name="Rectangle 2"/>
          <p:cNvSpPr/>
          <p:nvPr/>
        </p:nvSpPr>
        <p:spPr>
          <a:xfrm>
            <a:off x="0" y="0"/>
            <a:ext cx="12191400" cy="91404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3" name="TextBox 3"/>
          <p:cNvSpPr/>
          <p:nvPr/>
        </p:nvSpPr>
        <p:spPr>
          <a:xfrm>
            <a:off x="4834080" y="182880"/>
            <a:ext cx="249300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Definitions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548640" y="1188720"/>
            <a:ext cx="11063880" cy="225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Forensics: analytical &amp; investigative techniques to identify, collect, examine, and preserve evidence for court.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Computer forensics: same techniques applied to computer-based material.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Digital forensics: expanded scope — smartphones, smart watches, IoT, all digital media/devices.</a:t>
            </a:r>
            <a:endParaRPr b="0" lang="en-US" sz="18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Goal: recover, analyze, present evidence with integrity and security.</a:t>
            </a:r>
            <a:endParaRPr b="0" lang="en-US" sz="16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Adhere to strict guidelines — no shortcuts.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65" name="Rectangl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6" name="TextBox 6"/>
          <p:cNvSpPr/>
          <p:nvPr/>
        </p:nvSpPr>
        <p:spPr>
          <a:xfrm>
            <a:off x="4288320" y="6565320"/>
            <a:ext cx="358416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IT 359/360  •  Chapter 1: Computer Forensics  •  5/58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2f6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8" name="Rectangle 2"/>
          <p:cNvSpPr/>
          <p:nvPr/>
        </p:nvSpPr>
        <p:spPr>
          <a:xfrm>
            <a:off x="0" y="0"/>
            <a:ext cx="12191400" cy="91404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9" name="TextBox 3"/>
          <p:cNvSpPr/>
          <p:nvPr/>
        </p:nvSpPr>
        <p:spPr>
          <a:xfrm>
            <a:off x="2049840" y="182880"/>
            <a:ext cx="806148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Seven Domains of IT Infrastructure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548640" y="1188720"/>
            <a:ext cx="11063880" cy="260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Digital forensics covers all 7 domains:</a:t>
            </a:r>
            <a:endParaRPr b="0" lang="en-US" sz="18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User domain</a:t>
            </a:r>
            <a:endParaRPr b="0" lang="en-US" sz="16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Workstation domain</a:t>
            </a:r>
            <a:endParaRPr b="0" lang="en-US" sz="16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LAN domain</a:t>
            </a:r>
            <a:endParaRPr b="0" lang="en-US" sz="16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LAN-to-WAN domain</a:t>
            </a:r>
            <a:endParaRPr b="0" lang="en-US" sz="16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WAN domain</a:t>
            </a:r>
            <a:endParaRPr b="0" lang="en-US" sz="16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Remote access domain</a:t>
            </a:r>
            <a:endParaRPr b="0" lang="en-US" sz="16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System/application domain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71" name="Rectangl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2" name="TextBox 6"/>
          <p:cNvSpPr/>
          <p:nvPr/>
        </p:nvSpPr>
        <p:spPr>
          <a:xfrm>
            <a:off x="4288320" y="6565320"/>
            <a:ext cx="358416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IT 359/360  •  Chapter 1: Computer Forensics  •  6/58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2f6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4" name="Rectangle 2"/>
          <p:cNvSpPr/>
          <p:nvPr/>
        </p:nvSpPr>
        <p:spPr>
          <a:xfrm>
            <a:off x="0" y="0"/>
            <a:ext cx="12191400" cy="91404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5" name="TextBox 3"/>
          <p:cNvSpPr/>
          <p:nvPr/>
        </p:nvSpPr>
        <p:spPr>
          <a:xfrm>
            <a:off x="2965680" y="182880"/>
            <a:ext cx="622980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Using Scientific Knowledge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76" name="TextBox 4"/>
          <p:cNvSpPr/>
          <p:nvPr/>
        </p:nvSpPr>
        <p:spPr>
          <a:xfrm>
            <a:off x="548640" y="1188720"/>
            <a:ext cx="11063880" cy="176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Computer forensics is a science — needs scientific method.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Required disciplines: hardware, OS, networks.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Parallel: DNA forensics needs strong scientific background.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Tech &amp; criminal tactics evolve — keep learning.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Understand how info is used and stored.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7" name="Rectangl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8" name="TextBox 6"/>
          <p:cNvSpPr/>
          <p:nvPr/>
        </p:nvSpPr>
        <p:spPr>
          <a:xfrm>
            <a:off x="4288320" y="6565320"/>
            <a:ext cx="358416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IT 359/360  •  Chapter 1: Computer Forensics  •  7/58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e6f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0" name="TextBox 2"/>
          <p:cNvSpPr/>
          <p:nvPr/>
        </p:nvSpPr>
        <p:spPr>
          <a:xfrm>
            <a:off x="889920" y="2743200"/>
            <a:ext cx="1038132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4800" spc="-1" strike="noStrike">
                <a:solidFill>
                  <a:srgbClr val="ffffff"/>
                </a:solidFill>
                <a:latin typeface="Calibri"/>
              </a:rPr>
              <a:t>Three-Stage Forensic Process</a:t>
            </a:r>
            <a:endParaRPr b="0" lang="en-US" sz="4800" spc="-1" strike="noStrike">
              <a:latin typeface="Arial"/>
            </a:endParaRPr>
          </a:p>
        </p:txBody>
      </p:sp>
      <p:sp>
        <p:nvSpPr>
          <p:cNvPr id="81" name="Rectangle 3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2" name="TextBox 4"/>
          <p:cNvSpPr/>
          <p:nvPr/>
        </p:nvSpPr>
        <p:spPr>
          <a:xfrm>
            <a:off x="4288320" y="6565320"/>
            <a:ext cx="358416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IT 359/360  •  Chapter 1: Computer Forensics  •  8/58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2f6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4" name="Rectangle 2"/>
          <p:cNvSpPr/>
          <p:nvPr/>
        </p:nvSpPr>
        <p:spPr>
          <a:xfrm>
            <a:off x="0" y="0"/>
            <a:ext cx="12191400" cy="91404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5" name="TextBox 3"/>
          <p:cNvSpPr/>
          <p:nvPr/>
        </p:nvSpPr>
        <p:spPr>
          <a:xfrm>
            <a:off x="4645080" y="182880"/>
            <a:ext cx="28706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1. Collecting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86" name="TextBox 4"/>
          <p:cNvSpPr/>
          <p:nvPr/>
        </p:nvSpPr>
        <p:spPr>
          <a:xfrm>
            <a:off x="548640" y="1188720"/>
            <a:ext cx="11063880" cy="10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Evidence collected using specific procedures.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Method directly impacts court admissibility.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Improper collection → evidence thrown out.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7" name="Rectangl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8" name="TextBox 6"/>
          <p:cNvSpPr/>
          <p:nvPr/>
        </p:nvSpPr>
        <p:spPr>
          <a:xfrm>
            <a:off x="4288320" y="6565320"/>
            <a:ext cx="358416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IT 359/360  •  Chapter 1: Computer Forensics  •  9/58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2f6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0" name="Rectangle 2"/>
          <p:cNvSpPr/>
          <p:nvPr/>
        </p:nvSpPr>
        <p:spPr>
          <a:xfrm>
            <a:off x="0" y="0"/>
            <a:ext cx="12191400" cy="91404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1" name="TextBox 3"/>
          <p:cNvSpPr/>
          <p:nvPr/>
        </p:nvSpPr>
        <p:spPr>
          <a:xfrm>
            <a:off x="4669560" y="182880"/>
            <a:ext cx="28220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2. Analyzing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92" name="TextBox 4"/>
          <p:cNvSpPr/>
          <p:nvPr/>
        </p:nvSpPr>
        <p:spPr>
          <a:xfrm>
            <a:off x="548640" y="1188720"/>
            <a:ext cx="11063880" cy="14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Most challenging &amp; time-consuming stage.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Needs strong scientific knowledge to interpret data.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Approach like a complex puzzle — think Sherlock Holmes.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Consider alternative explanations before conclusions.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3" name="Rectangl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4" name="TextBox 6"/>
          <p:cNvSpPr/>
          <p:nvPr/>
        </p:nvSpPr>
        <p:spPr>
          <a:xfrm>
            <a:off x="4248000" y="6565320"/>
            <a:ext cx="36648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IT 359/360  •  Chapter 1: Computer Forensics  •  10/58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2f6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6" name="Rectangle 2"/>
          <p:cNvSpPr/>
          <p:nvPr/>
        </p:nvSpPr>
        <p:spPr>
          <a:xfrm>
            <a:off x="0" y="0"/>
            <a:ext cx="12191400" cy="91404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7" name="TextBox 3"/>
          <p:cNvSpPr/>
          <p:nvPr/>
        </p:nvSpPr>
        <p:spPr>
          <a:xfrm>
            <a:off x="4540680" y="182880"/>
            <a:ext cx="30794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3. Presenting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98" name="TextBox 4"/>
          <p:cNvSpPr/>
          <p:nvPr/>
        </p:nvSpPr>
        <p:spPr>
          <a:xfrm>
            <a:off x="548640" y="1188720"/>
            <a:ext cx="11063880" cy="14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Final stage: expert report + expert testimony.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Translate technical info to plain English for court.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Avoid jargon. Use visuals when helpful.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Expert testimony: based on scientific/technical knowledge, not personal experience.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9" name="Rectangl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0" name="TextBox 6"/>
          <p:cNvSpPr/>
          <p:nvPr/>
        </p:nvSpPr>
        <p:spPr>
          <a:xfrm>
            <a:off x="4248000" y="6565320"/>
            <a:ext cx="36648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IT 359/360  •  Chapter 1: Computer Forensics  •  11/58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2f6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2" name="Rectangle 2"/>
          <p:cNvSpPr/>
          <p:nvPr/>
        </p:nvSpPr>
        <p:spPr>
          <a:xfrm>
            <a:off x="0" y="0"/>
            <a:ext cx="12191400" cy="91404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3" name="TextBox 3"/>
          <p:cNvSpPr/>
          <p:nvPr/>
        </p:nvSpPr>
        <p:spPr>
          <a:xfrm>
            <a:off x="3987360" y="182880"/>
            <a:ext cx="418608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The Expert Report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04" name="TextBox 4"/>
          <p:cNvSpPr/>
          <p:nvPr/>
        </p:nvSpPr>
        <p:spPr>
          <a:xfrm>
            <a:off x="548640" y="1188720"/>
            <a:ext cx="11063880" cy="246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Formal document of the investigation + specialist's CV.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Must include all tests conducted.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Experts can ONLY testify on what is in the report — be exhaustive.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Plain English. Detail qualifications, methodology, tools.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Methodology must be reproducible by other competent analysts.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Avoid "junk science" — cite verifiable sources (Daubert).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Proofread to prevent opposing counsel from finding errors.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5" name="Rectangl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6" name="TextBox 6"/>
          <p:cNvSpPr/>
          <p:nvPr/>
        </p:nvSpPr>
        <p:spPr>
          <a:xfrm>
            <a:off x="4248000" y="6565320"/>
            <a:ext cx="36648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IT 359/360  •  Chapter 1: Computer Forensics  •  12/58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2f6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8" name="Rectangle 2"/>
          <p:cNvSpPr/>
          <p:nvPr/>
        </p:nvSpPr>
        <p:spPr>
          <a:xfrm>
            <a:off x="0" y="0"/>
            <a:ext cx="12191400" cy="91404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9" name="TextBox 3"/>
          <p:cNvSpPr/>
          <p:nvPr/>
        </p:nvSpPr>
        <p:spPr>
          <a:xfrm>
            <a:off x="4090320" y="182880"/>
            <a:ext cx="398016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Expert Testimony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10" name="TextBox 4"/>
          <p:cNvSpPr/>
          <p:nvPr/>
        </p:nvSpPr>
        <p:spPr>
          <a:xfrm>
            <a:off x="548640" y="1188720"/>
            <a:ext cx="11063880" cy="237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Forensic specialists serve as expert witnesses (depositions or trial).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Always tell truth — perjury is a felony, kills credibility.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Goal: present scientifically valid evidence even if it hurts your side.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U.S. Federal Rule of Evidence 702: admissible if</a:t>
            </a:r>
            <a:endParaRPr b="0" lang="en-US" sz="18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based on sufficient facts,</a:t>
            </a:r>
            <a:endParaRPr b="0" lang="en-US" sz="16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uses reliable methods,</a:t>
            </a:r>
            <a:endParaRPr b="0" lang="en-US" sz="16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applied reliably, and assists the court.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11" name="Rectangl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2" name="TextBox 6"/>
          <p:cNvSpPr/>
          <p:nvPr/>
        </p:nvSpPr>
        <p:spPr>
          <a:xfrm>
            <a:off x="4248000" y="6565320"/>
            <a:ext cx="36648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IT 359/360  •  Chapter 1: Computer Forensics  •  13/58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2f6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4" name="Rectangle 2"/>
          <p:cNvSpPr/>
          <p:nvPr/>
        </p:nvSpPr>
        <p:spPr>
          <a:xfrm>
            <a:off x="0" y="0"/>
            <a:ext cx="12191400" cy="91404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5" name="TextBox 3"/>
          <p:cNvSpPr/>
          <p:nvPr/>
        </p:nvSpPr>
        <p:spPr>
          <a:xfrm>
            <a:off x="3120480" y="182880"/>
            <a:ext cx="592020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Federal Rules of Evidence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16" name="TextBox 4"/>
          <p:cNvSpPr/>
          <p:nvPr/>
        </p:nvSpPr>
        <p:spPr>
          <a:xfrm>
            <a:off x="548640" y="1188720"/>
            <a:ext cx="11063880" cy="21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Rule 401 — Relevant Evidence: makes a consequential fact more/less probable.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Rule 702 — Expert Testimony admissibility (above).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Rule 703 — Bases of Expert: may use field-typical facts/data even if inadmissible.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Rule 704 — Opinion on Ultimate Issue: experts can opine on ultimate issue.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Rule 705 — Disclosing Underlying Facts: state opinion first, disclose on cross.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Rule 706 — Court-appointed Expert: courts may appoint neutral experts.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7" name="Rectangl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8" name="TextBox 6"/>
          <p:cNvSpPr/>
          <p:nvPr/>
        </p:nvSpPr>
        <p:spPr>
          <a:xfrm>
            <a:off x="4248000" y="6565320"/>
            <a:ext cx="36648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IT 359/360  •  Chapter 1: Computer Forensics  •  14/58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e6f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0" name="TextBox 2"/>
          <p:cNvSpPr/>
          <p:nvPr/>
        </p:nvSpPr>
        <p:spPr>
          <a:xfrm>
            <a:off x="1820880" y="2743200"/>
            <a:ext cx="851904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4800" spc="-1" strike="noStrike">
                <a:solidFill>
                  <a:srgbClr val="ffffff"/>
                </a:solidFill>
                <a:latin typeface="Calibri"/>
              </a:rPr>
              <a:t>Understanding the Field</a:t>
            </a:r>
            <a:endParaRPr b="0" lang="en-US" sz="4800" spc="-1" strike="noStrike">
              <a:latin typeface="Arial"/>
            </a:endParaRPr>
          </a:p>
        </p:txBody>
      </p:sp>
      <p:sp>
        <p:nvSpPr>
          <p:cNvPr id="121" name="Rectangle 3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2" name="TextBox 4"/>
          <p:cNvSpPr/>
          <p:nvPr/>
        </p:nvSpPr>
        <p:spPr>
          <a:xfrm>
            <a:off x="4248000" y="6565320"/>
            <a:ext cx="36648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IT 359/360  •  Chapter 1: Computer Forensics  •  15/58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2f6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4" name="Rectangle 2"/>
          <p:cNvSpPr/>
          <p:nvPr/>
        </p:nvSpPr>
        <p:spPr>
          <a:xfrm>
            <a:off x="0" y="0"/>
            <a:ext cx="12191400" cy="91404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5" name="TextBox 3"/>
          <p:cNvSpPr/>
          <p:nvPr/>
        </p:nvSpPr>
        <p:spPr>
          <a:xfrm>
            <a:off x="2848320" y="182880"/>
            <a:ext cx="646452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Who Uses Digital Forensics?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26" name="TextBox 4"/>
          <p:cNvSpPr/>
          <p:nvPr/>
        </p:nvSpPr>
        <p:spPr>
          <a:xfrm>
            <a:off x="548640" y="1188720"/>
            <a:ext cx="11063880" cy="289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Military — intelligence from captured computers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Government agencies — FBI, FTC, FDA, Secret Service, DOJ, NIST, OLES, DHS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Law firms — civil cases (divorce, discrimination)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Criminal prosecutors — link evidence to drug, embezzlement, fraud cases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Academia — research and degree programs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Data recovery firms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Corporations — termination, IP theft, harassment, intrusions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Insurance companies — accidents, arson, workers' comp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Individuals — wrongful termination, harassment claims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27" name="Rectangl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8" name="TextBox 6"/>
          <p:cNvSpPr/>
          <p:nvPr/>
        </p:nvSpPr>
        <p:spPr>
          <a:xfrm>
            <a:off x="4248000" y="6565320"/>
            <a:ext cx="36648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IT 359/360  •  Chapter 1: Computer Forensics  •  16/58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2f6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0" name="Rectangle 2"/>
          <p:cNvSpPr/>
          <p:nvPr/>
        </p:nvSpPr>
        <p:spPr>
          <a:xfrm>
            <a:off x="0" y="0"/>
            <a:ext cx="12191400" cy="91404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1" name="TextBox 3"/>
          <p:cNvSpPr/>
          <p:nvPr/>
        </p:nvSpPr>
        <p:spPr>
          <a:xfrm>
            <a:off x="3444120" y="182880"/>
            <a:ext cx="527256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Four Types of Evidence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32" name="TextBox 4"/>
          <p:cNvSpPr/>
          <p:nvPr/>
        </p:nvSpPr>
        <p:spPr>
          <a:xfrm>
            <a:off x="548640" y="1188720"/>
            <a:ext cx="11063880" cy="176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Real evidence — physical objects (laptop with prints).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Documentary evidence — stored info (emails, logs, DBs). Must authenticate.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Testimonial evidence — expert testimony.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Demonstrative evidence — charts/graphics that explain other evidence.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Admissibility hinges on unbroken CHAIN OF CUSTODY.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3" name="Rectangl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4" name="TextBox 6"/>
          <p:cNvSpPr/>
          <p:nvPr/>
        </p:nvSpPr>
        <p:spPr>
          <a:xfrm>
            <a:off x="4248000" y="6565320"/>
            <a:ext cx="36648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IT 359/360  •  Chapter 1: Computer Forensics  •  17/58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e6f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6" name="TextBox 2"/>
          <p:cNvSpPr/>
          <p:nvPr/>
        </p:nvSpPr>
        <p:spPr>
          <a:xfrm>
            <a:off x="1517040" y="2743200"/>
            <a:ext cx="912708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4800" spc="-1" strike="noStrike">
                <a:solidFill>
                  <a:srgbClr val="ffffff"/>
                </a:solidFill>
                <a:latin typeface="Calibri"/>
              </a:rPr>
              <a:t>Scope-Related Challenges</a:t>
            </a:r>
            <a:endParaRPr b="0" lang="en-US" sz="4800" spc="-1" strike="noStrike">
              <a:latin typeface="Arial"/>
            </a:endParaRPr>
          </a:p>
        </p:txBody>
      </p:sp>
      <p:sp>
        <p:nvSpPr>
          <p:cNvPr id="137" name="Rectangle 3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8" name="TextBox 4"/>
          <p:cNvSpPr/>
          <p:nvPr/>
        </p:nvSpPr>
        <p:spPr>
          <a:xfrm>
            <a:off x="4248000" y="6565320"/>
            <a:ext cx="36648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IT 359/360  •  Chapter 1: Computer Forensics  •  18/58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2f6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0" name="Rectangle 2"/>
          <p:cNvSpPr/>
          <p:nvPr/>
        </p:nvSpPr>
        <p:spPr>
          <a:xfrm>
            <a:off x="0" y="0"/>
            <a:ext cx="12191400" cy="91404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1" name="TextBox 3"/>
          <p:cNvSpPr/>
          <p:nvPr/>
        </p:nvSpPr>
        <p:spPr>
          <a:xfrm>
            <a:off x="3476160" y="182880"/>
            <a:ext cx="520848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Large Volumes of Data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42" name="TextBox 4"/>
          <p:cNvSpPr/>
          <p:nvPr/>
        </p:nvSpPr>
        <p:spPr>
          <a:xfrm>
            <a:off x="548640" y="1188720"/>
            <a:ext cx="11063880" cy="21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Examine ALL digital media including hidden data + metadata.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Strict chain of custody required.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Manage massive, ever-growing data volume.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Need duplicate storage + backups.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Budget constraints can compromise integrity.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Chain of custody = continuous control of evidence from collection to court.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43" name="Rectangl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4" name="TextBox 6"/>
          <p:cNvSpPr/>
          <p:nvPr/>
        </p:nvSpPr>
        <p:spPr>
          <a:xfrm>
            <a:off x="4248000" y="6565320"/>
            <a:ext cx="36648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IT 359/360  •  Chapter 1: Computer Forensics  •  19/58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2f6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6" name="Rectangle 2"/>
          <p:cNvSpPr/>
          <p:nvPr/>
        </p:nvSpPr>
        <p:spPr>
          <a:xfrm>
            <a:off x="0" y="0"/>
            <a:ext cx="12191400" cy="91404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7" name="TextBox 3"/>
          <p:cNvSpPr/>
          <p:nvPr/>
        </p:nvSpPr>
        <p:spPr>
          <a:xfrm>
            <a:off x="3876120" y="182880"/>
            <a:ext cx="440856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System Complexity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48" name="TextBox 4"/>
          <p:cNvSpPr/>
          <p:nvPr/>
        </p:nvSpPr>
        <p:spPr>
          <a:xfrm>
            <a:off x="548640" y="1188720"/>
            <a:ext cx="11063880" cy="176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Systems are complex; data is diverse.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Need range of tools + deep tech understanding.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Must know: legal evidence rules, chain of custody, Daubert standard.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Corroborate from multiple sources for accuracy.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Daubert standard: only widely-accepted methods/tools usable in court.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49" name="Rectangl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0" name="TextBox 6"/>
          <p:cNvSpPr/>
          <p:nvPr/>
        </p:nvSpPr>
        <p:spPr>
          <a:xfrm>
            <a:off x="4248000" y="6565320"/>
            <a:ext cx="36648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IT 359/360  •  Chapter 1: Computer Forensics  •  20/58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2f6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2" name="Rectangle 2"/>
          <p:cNvSpPr/>
          <p:nvPr/>
        </p:nvSpPr>
        <p:spPr>
          <a:xfrm>
            <a:off x="0" y="0"/>
            <a:ext cx="12191400" cy="91404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3" name="TextBox 3"/>
          <p:cNvSpPr/>
          <p:nvPr/>
        </p:nvSpPr>
        <p:spPr>
          <a:xfrm>
            <a:off x="3160080" y="182880"/>
            <a:ext cx="584100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Distributed Crime Scenes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54" name="TextBox 4"/>
          <p:cNvSpPr/>
          <p:nvPr/>
        </p:nvSpPr>
        <p:spPr>
          <a:xfrm>
            <a:off x="548640" y="1188720"/>
            <a:ext cx="11063880" cy="14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Networks are global — evidence scattered across jurisdictions.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Criminals exploit jurisdictional differences.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Evidence in multiple devices, languages, countries.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International cooperation REQUIRED — without it, investigations fail.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55" name="Rectangl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6" name="TextBox 6"/>
          <p:cNvSpPr/>
          <p:nvPr/>
        </p:nvSpPr>
        <p:spPr>
          <a:xfrm>
            <a:off x="4248000" y="6565320"/>
            <a:ext cx="36648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IT 359/360  •  Chapter 1: Computer Forensics  •  21/58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2f6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8" name="Rectangle 2"/>
          <p:cNvSpPr/>
          <p:nvPr/>
        </p:nvSpPr>
        <p:spPr>
          <a:xfrm>
            <a:off x="0" y="0"/>
            <a:ext cx="12191400" cy="91404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9" name="TextBox 3"/>
          <p:cNvSpPr/>
          <p:nvPr/>
        </p:nvSpPr>
        <p:spPr>
          <a:xfrm>
            <a:off x="2608920" y="182880"/>
            <a:ext cx="694296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Caseload &amp; Limited Resources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60" name="TextBox 4"/>
          <p:cNvSpPr/>
          <p:nvPr/>
        </p:nvSpPr>
        <p:spPr>
          <a:xfrm>
            <a:off x="548640" y="1188720"/>
            <a:ext cx="11063880" cy="14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Demand for specialists outstrips supply → backlogs grow.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Criminals use tech to commit AND hide crimes.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Forensic-like tools used to destroy evidence.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Caseloads keep rising; resources stay limited.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61" name="Rectangl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2" name="TextBox 6"/>
          <p:cNvSpPr/>
          <p:nvPr/>
        </p:nvSpPr>
        <p:spPr>
          <a:xfrm>
            <a:off x="4248000" y="6565320"/>
            <a:ext cx="36648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IT 359/360  •  Chapter 1: Computer Forensics  •  22/58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2f6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4" name="Rectangle 2"/>
          <p:cNvSpPr/>
          <p:nvPr/>
        </p:nvSpPr>
        <p:spPr>
          <a:xfrm>
            <a:off x="0" y="0"/>
            <a:ext cx="12191400" cy="91404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5" name="TextBox 3"/>
          <p:cNvSpPr/>
          <p:nvPr/>
        </p:nvSpPr>
        <p:spPr>
          <a:xfrm>
            <a:off x="2237040" y="182880"/>
            <a:ext cx="768672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Types of Digital Forensic Analysis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66" name="TextBox 4"/>
          <p:cNvSpPr/>
          <p:nvPr/>
        </p:nvSpPr>
        <p:spPr>
          <a:xfrm>
            <a:off x="548640" y="1188720"/>
            <a:ext cx="11063880" cy="246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Disk forensics — storage media, deleted data recovery.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Email forensics — trace origins and content.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Network forensics — monitor &amp; analyze traffic.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Internet forensics — reconstruct online activity.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Software/malware forensics — analyze malicious code.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Live system forensics — examine real-time memory.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Cell-phone forensics — mobile content (FISA, PATRIOT Act apply).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67" name="Rectangl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8" name="TextBox 6"/>
          <p:cNvSpPr/>
          <p:nvPr/>
        </p:nvSpPr>
        <p:spPr>
          <a:xfrm>
            <a:off x="4248000" y="6565320"/>
            <a:ext cx="36648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IT 359/360  •  Chapter 1: Computer Forensics  •  23/58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2f6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0" name="Rectangle 2"/>
          <p:cNvSpPr/>
          <p:nvPr/>
        </p:nvSpPr>
        <p:spPr>
          <a:xfrm>
            <a:off x="0" y="0"/>
            <a:ext cx="12191400" cy="91404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1" name="TextBox 3"/>
          <p:cNvSpPr/>
          <p:nvPr/>
        </p:nvSpPr>
        <p:spPr>
          <a:xfrm>
            <a:off x="2868120" y="182880"/>
            <a:ext cx="642492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General Forensic Guidelines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72" name="TextBox 4"/>
          <p:cNvSpPr/>
          <p:nvPr/>
        </p:nvSpPr>
        <p:spPr>
          <a:xfrm>
            <a:off x="548640" y="1188720"/>
            <a:ext cx="11063880" cy="176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1. Chain of custody — documented control from seizure to court.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2. Don't touch the suspect drive — work on a forensic copy (FTK, EnCase).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3. Document trail — over-document; record who, what, when, tools used.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4. Secure the evidence — locked rooms, safes, need-to-know access.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Failure on any of these → evidence excluded at trial.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73" name="Rectangl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4" name="TextBox 6"/>
          <p:cNvSpPr/>
          <p:nvPr/>
        </p:nvSpPr>
        <p:spPr>
          <a:xfrm>
            <a:off x="4248000" y="6565320"/>
            <a:ext cx="36648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IT 359/360  •  Chapter 1: Computer Forensics  •  24/58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e6f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6" name="TextBox 2"/>
          <p:cNvSpPr/>
          <p:nvPr/>
        </p:nvSpPr>
        <p:spPr>
          <a:xfrm>
            <a:off x="774000" y="2743200"/>
            <a:ext cx="1061280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4800" spc="-1" strike="noStrike">
                <a:solidFill>
                  <a:srgbClr val="ffffff"/>
                </a:solidFill>
                <a:latin typeface="Calibri"/>
              </a:rPr>
              <a:t>Knowledge Needed: Hardware</a:t>
            </a:r>
            <a:endParaRPr b="0" lang="en-US" sz="4800" spc="-1" strike="noStrike">
              <a:latin typeface="Arial"/>
            </a:endParaRPr>
          </a:p>
        </p:txBody>
      </p:sp>
      <p:sp>
        <p:nvSpPr>
          <p:cNvPr id="177" name="Rectangle 3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8" name="TextBox 4"/>
          <p:cNvSpPr/>
          <p:nvPr/>
        </p:nvSpPr>
        <p:spPr>
          <a:xfrm>
            <a:off x="4248000" y="6565320"/>
            <a:ext cx="36648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IT 359/360  •  Chapter 1: Computer Forensics  •  25/58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2f6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0" name="Rectangle 2"/>
          <p:cNvSpPr/>
          <p:nvPr/>
        </p:nvSpPr>
        <p:spPr>
          <a:xfrm>
            <a:off x="0" y="0"/>
            <a:ext cx="12191400" cy="91404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1" name="TextBox 3"/>
          <p:cNvSpPr/>
          <p:nvPr/>
        </p:nvSpPr>
        <p:spPr>
          <a:xfrm>
            <a:off x="3624840" y="182880"/>
            <a:ext cx="491148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Hardware Knowledge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82" name="TextBox 4"/>
          <p:cNvSpPr/>
          <p:nvPr/>
        </p:nvSpPr>
        <p:spPr>
          <a:xfrm>
            <a:off x="548640" y="1188720"/>
            <a:ext cx="11063880" cy="170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Need CompTIA A+ level (or beyond) understanding of PCs.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Comprehend: component function, data storage, computer usage.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Volatile memory: needs power to retain data.</a:t>
            </a:r>
            <a:endParaRPr b="0" lang="en-US" sz="18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RAM = highly volatile.</a:t>
            </a:r>
            <a:endParaRPr b="0" lang="en-US" sz="16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EEPROM = very nonvolatile.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83" name="Rectangl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4" name="TextBox 6"/>
          <p:cNvSpPr/>
          <p:nvPr/>
        </p:nvSpPr>
        <p:spPr>
          <a:xfrm>
            <a:off x="4248000" y="6565320"/>
            <a:ext cx="36648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IT 359/360  •  Chapter 1: Computer Forensics  •  26/58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2f6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6" name="Rectangle 2"/>
          <p:cNvSpPr/>
          <p:nvPr/>
        </p:nvSpPr>
        <p:spPr>
          <a:xfrm>
            <a:off x="0" y="0"/>
            <a:ext cx="12191400" cy="91404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7" name="TextBox 3"/>
          <p:cNvSpPr/>
          <p:nvPr/>
        </p:nvSpPr>
        <p:spPr>
          <a:xfrm>
            <a:off x="4541400" y="182880"/>
            <a:ext cx="307800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Types of RAM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88" name="TextBox 4"/>
          <p:cNvSpPr/>
          <p:nvPr/>
        </p:nvSpPr>
        <p:spPr>
          <a:xfrm>
            <a:off x="548640" y="1188720"/>
            <a:ext cx="11063880" cy="176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EDO DRAM — full memory transaction in one clock cycle.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BEDO DRAM — 4 addresses per burst.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ADRAM — NOT synchronized to CPU clock.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SDRAM — synchronized to CPU clock; replaced EDO.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DDR SDRAM — DDR2, DDR3, DDR4, DDR5 (DDR5 launched Oct 2020).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89" name="Rectangl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0" name="TextBox 6"/>
          <p:cNvSpPr/>
          <p:nvPr/>
        </p:nvSpPr>
        <p:spPr>
          <a:xfrm>
            <a:off x="4248000" y="6565320"/>
            <a:ext cx="36648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IT 359/360  •  Chapter 1: Computer Forensics  •  27/58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2f6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2" name="Rectangle 2"/>
          <p:cNvSpPr/>
          <p:nvPr/>
        </p:nvSpPr>
        <p:spPr>
          <a:xfrm>
            <a:off x="0" y="0"/>
            <a:ext cx="12191400" cy="91404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3" name="TextBox 3"/>
          <p:cNvSpPr/>
          <p:nvPr/>
        </p:nvSpPr>
        <p:spPr>
          <a:xfrm>
            <a:off x="3704040" y="182880"/>
            <a:ext cx="475308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Memory by Volatility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94" name="TextBox 4"/>
          <p:cNvSpPr/>
          <p:nvPr/>
        </p:nvSpPr>
        <p:spPr>
          <a:xfrm>
            <a:off x="548640" y="1188720"/>
            <a:ext cx="11063880" cy="21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RAM — highly volatile; lost when power off; read/write.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ROM — nonvolatile; permanent; embedded instructions.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PROM — programmed once; retained without power.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EPROM — erasable + reprogrammable; retains without power.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EEPROM — electrically erasable; stores BIOS.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BIOS = basic input/output system; chip instructions to boot.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95" name="Rectangl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6" name="TextBox 6"/>
          <p:cNvSpPr/>
          <p:nvPr/>
        </p:nvSpPr>
        <p:spPr>
          <a:xfrm>
            <a:off x="4248000" y="6565320"/>
            <a:ext cx="36648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IT 359/360  •  Chapter 1: Computer Forensics  •  28/58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2f6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8" name="Rectangle 2"/>
          <p:cNvSpPr/>
          <p:nvPr/>
        </p:nvSpPr>
        <p:spPr>
          <a:xfrm>
            <a:off x="0" y="0"/>
            <a:ext cx="12191400" cy="91404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9" name="TextBox 3"/>
          <p:cNvSpPr/>
          <p:nvPr/>
        </p:nvSpPr>
        <p:spPr>
          <a:xfrm>
            <a:off x="3613320" y="182880"/>
            <a:ext cx="493416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Hard Drive Interfaces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00" name="TextBox 4"/>
          <p:cNvSpPr/>
          <p:nvPr/>
        </p:nvSpPr>
        <p:spPr>
          <a:xfrm>
            <a:off x="548640" y="1188720"/>
            <a:ext cx="11063880" cy="176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SCSI (1986) — high-end servers, up to 16 chained, needs termination.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IDE / EIDE / PATA — older PC interfaces (40 or 80-pin).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SATA — most common today; workstations + servers; no jumpers.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Serial SCSI — up to 65,537 devices; no termination needed.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SSDs — NAND flash, no moving parts, non-volatile, limited write cycles.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01" name="Rectangl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2" name="TextBox 6"/>
          <p:cNvSpPr/>
          <p:nvPr/>
        </p:nvSpPr>
        <p:spPr>
          <a:xfrm>
            <a:off x="4248000" y="6565320"/>
            <a:ext cx="36648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IT 359/360  •  Chapter 1: Computer Forensics  •  29/58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2f6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4" name="Rectangle 2"/>
          <p:cNvSpPr/>
          <p:nvPr/>
        </p:nvSpPr>
        <p:spPr>
          <a:xfrm>
            <a:off x="0" y="0"/>
            <a:ext cx="12191400" cy="91404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5" name="TextBox 3"/>
          <p:cNvSpPr/>
          <p:nvPr/>
        </p:nvSpPr>
        <p:spPr>
          <a:xfrm>
            <a:off x="4410360" y="182880"/>
            <a:ext cx="334008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HDD Structure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06" name="TextBox 4"/>
          <p:cNvSpPr/>
          <p:nvPr/>
        </p:nvSpPr>
        <p:spPr>
          <a:xfrm>
            <a:off x="548640" y="1188720"/>
            <a:ext cx="11063880" cy="246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Sectors — basic storage units (512 B; newer = 4096 B).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Clusters — 1 to 128 sectors (512 B to 64 KB); unused space wasted.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Tracks — where sectors are arranged.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Drive geometry — heads, cylinders, sectors-per-track.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Slack space — unused space at end of cluster; can hide data.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Low-level format — creates physical structure.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High-level format — file system + boot sector (quick format).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07" name="Rectangl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8" name="TextBox 6"/>
          <p:cNvSpPr/>
          <p:nvPr/>
        </p:nvSpPr>
        <p:spPr>
          <a:xfrm>
            <a:off x="4248000" y="6565320"/>
            <a:ext cx="36648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IT 359/360  •  Chapter 1: Computer Forensics  •  30/58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2f6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0" name="Rectangle 2"/>
          <p:cNvSpPr/>
          <p:nvPr/>
        </p:nvSpPr>
        <p:spPr>
          <a:xfrm>
            <a:off x="0" y="0"/>
            <a:ext cx="12191400" cy="91404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1" name="TextBox 3"/>
          <p:cNvSpPr/>
          <p:nvPr/>
        </p:nvSpPr>
        <p:spPr>
          <a:xfrm>
            <a:off x="4481280" y="182880"/>
            <a:ext cx="319860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SSDs vs HDDs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12" name="TextBox 4"/>
          <p:cNvSpPr/>
          <p:nvPr/>
        </p:nvSpPr>
        <p:spPr>
          <a:xfrm>
            <a:off x="548640" y="1188720"/>
            <a:ext cx="11063880" cy="176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SSDs use NAND flash; non-volatile; no moving parts.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Wear leveling — spreads writes across drive to extend life.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Wear leveling makes slack-space data hiding less relevant on SSDs.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1/2 to 1/3 the power of HDDs; lower idle power too.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Don't benefit from defragmentation. Limited write cycles.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13" name="Rectangl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4" name="TextBox 6"/>
          <p:cNvSpPr/>
          <p:nvPr/>
        </p:nvSpPr>
        <p:spPr>
          <a:xfrm>
            <a:off x="4248000" y="6565320"/>
            <a:ext cx="36648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IT 359/360  •  Chapter 1: Computer Forensics  •  31/58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e6f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6" name="TextBox 2"/>
          <p:cNvSpPr/>
          <p:nvPr/>
        </p:nvSpPr>
        <p:spPr>
          <a:xfrm>
            <a:off x="896040" y="2743200"/>
            <a:ext cx="1036908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4800" spc="-1" strike="noStrike">
                <a:solidFill>
                  <a:srgbClr val="ffffff"/>
                </a:solidFill>
                <a:latin typeface="Calibri"/>
              </a:rPr>
              <a:t>Knowledge Needed: Software</a:t>
            </a:r>
            <a:endParaRPr b="0" lang="en-US" sz="4800" spc="-1" strike="noStrike">
              <a:latin typeface="Arial"/>
            </a:endParaRPr>
          </a:p>
        </p:txBody>
      </p:sp>
      <p:sp>
        <p:nvSpPr>
          <p:cNvPr id="217" name="Rectangle 3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8" name="TextBox 4"/>
          <p:cNvSpPr/>
          <p:nvPr/>
        </p:nvSpPr>
        <p:spPr>
          <a:xfrm>
            <a:off x="4248000" y="6565320"/>
            <a:ext cx="36648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IT 359/360  •  Chapter 1: Computer Forensics  •  32/58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2f6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0" name="Rectangle 2"/>
          <p:cNvSpPr/>
          <p:nvPr/>
        </p:nvSpPr>
        <p:spPr>
          <a:xfrm>
            <a:off x="0" y="0"/>
            <a:ext cx="12191400" cy="91404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1" name="TextBox 3"/>
          <p:cNvSpPr/>
          <p:nvPr/>
        </p:nvSpPr>
        <p:spPr>
          <a:xfrm>
            <a:off x="3888360" y="182880"/>
            <a:ext cx="438408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Operating Systems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22" name="TextBox 4"/>
          <p:cNvSpPr/>
          <p:nvPr/>
        </p:nvSpPr>
        <p:spPr>
          <a:xfrm>
            <a:off x="548640" y="1188720"/>
            <a:ext cx="11063880" cy="234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Windows — Registry stores settings, software params, device info.</a:t>
            </a:r>
            <a:endParaRPr b="0" lang="en-US" sz="18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Key evidence: index.dat, browser cookies, history.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Linux — open source, abundant free forensic tools.</a:t>
            </a:r>
            <a:endParaRPr b="0" lang="en-US" sz="18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Kali Linux (formerly BackTrack) — security/forensics distro.</a:t>
            </a:r>
            <a:endParaRPr b="0" lang="en-US" sz="16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Shell-centric; UNIX clone.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Mac OS — modern macOS based on FreeBSD (UNIX-like).</a:t>
            </a:r>
            <a:endParaRPr b="0" lang="en-US" sz="18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Many Linux shell techniques apply to macOS.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23" name="Rectangl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4" name="TextBox 6"/>
          <p:cNvSpPr/>
          <p:nvPr/>
        </p:nvSpPr>
        <p:spPr>
          <a:xfrm>
            <a:off x="4248000" y="6565320"/>
            <a:ext cx="36648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IT 359/360  •  Chapter 1: Computer Forensics  •  33/58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2f6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6" name="Rectangle 2"/>
          <p:cNvSpPr/>
          <p:nvPr/>
        </p:nvSpPr>
        <p:spPr>
          <a:xfrm>
            <a:off x="0" y="0"/>
            <a:ext cx="12191400" cy="91404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7" name="TextBox 3"/>
          <p:cNvSpPr/>
          <p:nvPr/>
        </p:nvSpPr>
        <p:spPr>
          <a:xfrm>
            <a:off x="3784680" y="182880"/>
            <a:ext cx="45914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Files &amp; File Headers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28" name="TextBox 4"/>
          <p:cNvSpPr/>
          <p:nvPr/>
        </p:nvSpPr>
        <p:spPr>
          <a:xfrm>
            <a:off x="548640" y="1188720"/>
            <a:ext cx="11063880" cy="246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File extensions easily changed — don't trust them.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File header = first byte; key for file carving.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Graphic headers contain size, resolution, color count.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ELF — executables/object code on UNIX systems.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PE — Windows executables/DLLs (from COFF).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Area density — data per area of disk.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Windows Office files use a GUID for identification.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29" name="Rectangl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0" name="TextBox 6"/>
          <p:cNvSpPr/>
          <p:nvPr/>
        </p:nvSpPr>
        <p:spPr>
          <a:xfrm>
            <a:off x="4248000" y="6565320"/>
            <a:ext cx="36648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IT 359/360  •  Chapter 1: Computer Forensics  •  34/58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2f6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2" name="Rectangle 2"/>
          <p:cNvSpPr/>
          <p:nvPr/>
        </p:nvSpPr>
        <p:spPr>
          <a:xfrm>
            <a:off x="0" y="0"/>
            <a:ext cx="12191400" cy="91404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3" name="TextBox 3"/>
          <p:cNvSpPr/>
          <p:nvPr/>
        </p:nvSpPr>
        <p:spPr>
          <a:xfrm>
            <a:off x="3380040" y="182880"/>
            <a:ext cx="540072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Journaling File Systems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34" name="TextBox 4"/>
          <p:cNvSpPr/>
          <p:nvPr/>
        </p:nvSpPr>
        <p:spPr>
          <a:xfrm>
            <a:off x="548640" y="1188720"/>
            <a:ext cx="11063880" cy="14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Journaling = log of all file transactions → fault tolerant.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Enables recovery after crash.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Physical journaling — logs copy of every block + checksum.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Logical journaling — records only metadata changes.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35" name="Rectangl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6" name="TextBox 6"/>
          <p:cNvSpPr/>
          <p:nvPr/>
        </p:nvSpPr>
        <p:spPr>
          <a:xfrm>
            <a:off x="4248000" y="6565320"/>
            <a:ext cx="36648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IT 359/360  •  Chapter 1: Computer Forensics  •  35/58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2f6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8" name="Rectangle 2"/>
          <p:cNvSpPr/>
          <p:nvPr/>
        </p:nvSpPr>
        <p:spPr>
          <a:xfrm>
            <a:off x="0" y="0"/>
            <a:ext cx="12191400" cy="91404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9" name="TextBox 3"/>
          <p:cNvSpPr/>
          <p:nvPr/>
        </p:nvSpPr>
        <p:spPr>
          <a:xfrm>
            <a:off x="4623840" y="182880"/>
            <a:ext cx="291348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File Systems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40" name="TextBox 4"/>
          <p:cNvSpPr/>
          <p:nvPr/>
        </p:nvSpPr>
        <p:spPr>
          <a:xfrm>
            <a:off x="548640" y="1188720"/>
            <a:ext cx="11063880" cy="225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FAT (FAT16/FAT32) — older Microsoft; bit count differs by version.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NTFS — 1993 Microsoft; supports 2^64−1 clusters.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ReFS — resilient; checksums; Server 2019, some Win10/8.1.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APFS — default Apple since macOS 10.13 (2017); SSD-optimized.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EXT (EXT4) — Linux; up to 1 EB volumes, 16 TB files.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ReiserFS — Linux journaling FS; from kernel 2.4.1.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Berkeley Fast File System — UNIX; bitmap for free clusters.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41" name="Rectangl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2" name="TextBox 6"/>
          <p:cNvSpPr/>
          <p:nvPr/>
        </p:nvSpPr>
        <p:spPr>
          <a:xfrm>
            <a:off x="4248000" y="6565320"/>
            <a:ext cx="36648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IT 359/360  •  Chapter 1: Computer Forensics  •  36/58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e6f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4" name="TextBox 2"/>
          <p:cNvSpPr/>
          <p:nvPr/>
        </p:nvSpPr>
        <p:spPr>
          <a:xfrm>
            <a:off x="814320" y="2743200"/>
            <a:ext cx="1053216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4800" spc="-1" strike="noStrike">
                <a:solidFill>
                  <a:srgbClr val="ffffff"/>
                </a:solidFill>
                <a:latin typeface="Calibri"/>
              </a:rPr>
              <a:t>Knowledge Needed: Networks</a:t>
            </a:r>
            <a:endParaRPr b="0" lang="en-US" sz="4800" spc="-1" strike="noStrike">
              <a:latin typeface="Arial"/>
            </a:endParaRPr>
          </a:p>
        </p:txBody>
      </p:sp>
      <p:sp>
        <p:nvSpPr>
          <p:cNvPr id="245" name="Rectangle 3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6" name="TextBox 4"/>
          <p:cNvSpPr/>
          <p:nvPr/>
        </p:nvSpPr>
        <p:spPr>
          <a:xfrm>
            <a:off x="4248000" y="6565320"/>
            <a:ext cx="36648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IT 359/360  •  Chapter 1: Computer Forensics  •  37/58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2f6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8" name="Rectangle 2"/>
          <p:cNvSpPr/>
          <p:nvPr/>
        </p:nvSpPr>
        <p:spPr>
          <a:xfrm>
            <a:off x="0" y="0"/>
            <a:ext cx="12191400" cy="91404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9" name="TextBox 3"/>
          <p:cNvSpPr/>
          <p:nvPr/>
        </p:nvSpPr>
        <p:spPr>
          <a:xfrm>
            <a:off x="2516760" y="182880"/>
            <a:ext cx="712728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Networks: At Rest vs In Motion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50" name="TextBox 4"/>
          <p:cNvSpPr/>
          <p:nvPr/>
        </p:nvSpPr>
        <p:spPr>
          <a:xfrm>
            <a:off x="548640" y="1188720"/>
            <a:ext cx="11063880" cy="14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Data "at rest" = stored. Data "in motion" = transmitted.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Need OSI + IETF model knowledge.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Information in motion is critical — strong network skills required.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Addresses form a hierarchy within information transfer.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51" name="Rectangl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2" name="TextBox 6"/>
          <p:cNvSpPr/>
          <p:nvPr/>
        </p:nvSpPr>
        <p:spPr>
          <a:xfrm>
            <a:off x="4248000" y="6565320"/>
            <a:ext cx="36648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IT 359/360  •  Chapter 1: Computer Forensics  •  38/58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2f6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4" name="Rectangle 2"/>
          <p:cNvSpPr/>
          <p:nvPr/>
        </p:nvSpPr>
        <p:spPr>
          <a:xfrm>
            <a:off x="0" y="0"/>
            <a:ext cx="12191400" cy="91404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5" name="TextBox 3"/>
          <p:cNvSpPr/>
          <p:nvPr/>
        </p:nvSpPr>
        <p:spPr>
          <a:xfrm>
            <a:off x="3663000" y="182880"/>
            <a:ext cx="483516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Addressing Concepts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56" name="TextBox 4"/>
          <p:cNvSpPr/>
          <p:nvPr/>
        </p:nvSpPr>
        <p:spPr>
          <a:xfrm>
            <a:off x="548640" y="1188720"/>
            <a:ext cx="11063880" cy="17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Physical ports — USB, Ethernet, antennas; OSI Layer 1.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MAC addresses — 6-byte (48-bit); first 3 bytes = vendor.</a:t>
            </a:r>
            <a:endParaRPr b="0" lang="en-US" sz="18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MACs CAN be duplicated — don't be fooled.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IP addresses — logical, easily changed; IPv4 (32-bit), IPv6 available.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Logical port numbers — channels for data transfer (used with IP).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57" name="Rectangl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8" name="TextBox 6"/>
          <p:cNvSpPr/>
          <p:nvPr/>
        </p:nvSpPr>
        <p:spPr>
          <a:xfrm>
            <a:off x="4248000" y="6565320"/>
            <a:ext cx="36648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IT 359/360  •  Chapter 1: Computer Forensics  •  39/58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2f6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0" name="Rectangle 2"/>
          <p:cNvSpPr/>
          <p:nvPr/>
        </p:nvSpPr>
        <p:spPr>
          <a:xfrm>
            <a:off x="0" y="0"/>
            <a:ext cx="12191400" cy="91404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1" name="TextBox 3"/>
          <p:cNvSpPr/>
          <p:nvPr/>
        </p:nvSpPr>
        <p:spPr>
          <a:xfrm>
            <a:off x="3153960" y="182880"/>
            <a:ext cx="58532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Common Ports (Selected)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62" name="TextBox 4"/>
          <p:cNvSpPr/>
          <p:nvPr/>
        </p:nvSpPr>
        <p:spPr>
          <a:xfrm>
            <a:off x="548640" y="1188720"/>
            <a:ext cx="11063880" cy="42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Port,Protocol,Common Use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22,SSH / SFTP,Secure remote login and secure file transfer.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23,Telnet,Unencrypted (insecure) remote login.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161 / 162,SNMP,Monitoring and managing network devices.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Port,Protocol,Common Use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80,HTTP,Standard unencrypted web traffic.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443,HTTPS,"Secure, encrypted web traffic (SSL/TLS)."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53,DNS,Resolves domain names (like google.com) to IP addresses.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43,WhoIS,Queries databases that store registered users of a domain.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389,LDAP,Accessing and maintaining distributed directory info services.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endParaRPr b="0" lang="en-US" sz="1800" spc="-1" strike="noStrike">
              <a:latin typeface="Arial"/>
            </a:endParaRPr>
          </a:p>
        </p:txBody>
      </p:sp>
      <p:sp>
        <p:nvSpPr>
          <p:cNvPr id="263" name="Rectangl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4" name="TextBox 6"/>
          <p:cNvSpPr/>
          <p:nvPr/>
        </p:nvSpPr>
        <p:spPr>
          <a:xfrm>
            <a:off x="4248000" y="6565320"/>
            <a:ext cx="36648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IT 359/360  •  Chapter 1: Computer Forensics  •  40/58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Rectangle 6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2f6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6" name="Rectangle 7"/>
          <p:cNvSpPr/>
          <p:nvPr/>
        </p:nvSpPr>
        <p:spPr>
          <a:xfrm>
            <a:off x="0" y="0"/>
            <a:ext cx="12191400" cy="91404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7" name="TextBox 1"/>
          <p:cNvSpPr/>
          <p:nvPr/>
        </p:nvSpPr>
        <p:spPr>
          <a:xfrm>
            <a:off x="3153960" y="182880"/>
            <a:ext cx="58532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Common Ports (Selected)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68" name="TextBox 5"/>
          <p:cNvSpPr/>
          <p:nvPr/>
        </p:nvSpPr>
        <p:spPr>
          <a:xfrm>
            <a:off x="548640" y="1188720"/>
            <a:ext cx="11063880" cy="42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Port,Protocol,Common Use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20 / 21,FTP,Standard protocol </a:t>
            </a: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for transferring files.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69,TFTP,"Simple, ""stripped </a:t>
            </a: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down"" version of FTP (no </a:t>
            </a: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auth)."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137-139,NetBIOS,Legacy </a:t>
            </a: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Windows file and printer </a:t>
            </a: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sharing.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445,AD / SMB,Modern </a:t>
            </a: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Windows file sharing and </a:t>
            </a: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Active Directory.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Port,Protocol,Common Use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25,SMTP,Sending mail </a:t>
            </a: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between servers.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109,POP2,Older version of </a:t>
            </a: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Post Office Protocol for </a:t>
            </a: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receiving mail.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110,POP3,Standard protocol </a:t>
            </a: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for downloading mail from a </a:t>
            </a: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server.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220,IMAP,Accessing mail on </a:t>
            </a: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a server (keeps mail synced </a:t>
            </a: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across devices).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endParaRPr b="0" lang="en-US" sz="1800" spc="-1" strike="noStrike">
              <a:latin typeface="Arial"/>
            </a:endParaRPr>
          </a:p>
        </p:txBody>
      </p:sp>
      <p:sp>
        <p:nvSpPr>
          <p:cNvPr id="269" name="Rectangle 8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0" name="TextBox 7"/>
          <p:cNvSpPr/>
          <p:nvPr/>
        </p:nvSpPr>
        <p:spPr>
          <a:xfrm>
            <a:off x="4248000" y="6565320"/>
            <a:ext cx="36648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IT 359/360  •  Chapter 1: Computer Forensics  •  40/58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Rectangle 9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2f6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2" name="Rectangle 10"/>
          <p:cNvSpPr/>
          <p:nvPr/>
        </p:nvSpPr>
        <p:spPr>
          <a:xfrm>
            <a:off x="0" y="0"/>
            <a:ext cx="12191400" cy="91404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3" name="TextBox 8"/>
          <p:cNvSpPr/>
          <p:nvPr/>
        </p:nvSpPr>
        <p:spPr>
          <a:xfrm>
            <a:off x="3153960" y="182880"/>
            <a:ext cx="58532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Common Ports (Selected)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74" name="TextBox 9"/>
          <p:cNvSpPr/>
          <p:nvPr/>
        </p:nvSpPr>
        <p:spPr>
          <a:xfrm>
            <a:off x="548640" y="1188720"/>
            <a:ext cx="11063880" cy="176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Port,Protocol,Common Use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88,Kerberos,Network authentication protocol (tickets).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464,Kerberos Pwd,Specifically for changing/setting Kerberos passwords.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179,BGP,Routing protocol used to exchange info between ISPs.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194,IRC,Real-time text messaging (Internet Relay Chat).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75" name="Rectangle 11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6" name="TextBox 10"/>
          <p:cNvSpPr/>
          <p:nvPr/>
        </p:nvSpPr>
        <p:spPr>
          <a:xfrm>
            <a:off x="4248000" y="6565320"/>
            <a:ext cx="36648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IT 359/360  •  Chapter 1: Computer Forensics  •  40/58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2f6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8" name="Rectangle 2"/>
          <p:cNvSpPr/>
          <p:nvPr/>
        </p:nvSpPr>
        <p:spPr>
          <a:xfrm>
            <a:off x="0" y="0"/>
            <a:ext cx="12191400" cy="91404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9" name="TextBox 3"/>
          <p:cNvSpPr/>
          <p:nvPr/>
        </p:nvSpPr>
        <p:spPr>
          <a:xfrm>
            <a:off x="4452480" y="182880"/>
            <a:ext cx="325620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URLs and DNS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80" name="TextBox 4"/>
          <p:cNvSpPr/>
          <p:nvPr/>
        </p:nvSpPr>
        <p:spPr>
          <a:xfrm>
            <a:off x="548640" y="1188720"/>
            <a:ext cx="11063880" cy="19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Internet growth → DNS to use names instead of IPs.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DNS introduces forensic challenges:</a:t>
            </a:r>
            <a:endParaRPr b="0" lang="en-US" sz="18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Permanent or temp changes in name-to-IP mapping.</a:t>
            </a:r>
            <a:endParaRPr b="0" lang="en-US" sz="16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Can redirect browsers → hinder investigations.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End-to-end communication: format per protocol → TCP w/ port + IP → Ethernet envelope → reverse at destination.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81" name="Rectangl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82" name="TextBox 6"/>
          <p:cNvSpPr/>
          <p:nvPr/>
        </p:nvSpPr>
        <p:spPr>
          <a:xfrm>
            <a:off x="4248000" y="6565320"/>
            <a:ext cx="36648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IT 359/360  •  Chapter 1: Computer Forensics  •  41/58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2f6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84" name="Rectangle 2"/>
          <p:cNvSpPr/>
          <p:nvPr/>
        </p:nvSpPr>
        <p:spPr>
          <a:xfrm>
            <a:off x="0" y="0"/>
            <a:ext cx="12191400" cy="91404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85" name="TextBox 3"/>
          <p:cNvSpPr/>
          <p:nvPr/>
        </p:nvSpPr>
        <p:spPr>
          <a:xfrm>
            <a:off x="3464640" y="182880"/>
            <a:ext cx="523152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Basic Network Utilities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86" name="TextBox 4"/>
          <p:cNvSpPr/>
          <p:nvPr/>
        </p:nvSpPr>
        <p:spPr>
          <a:xfrm>
            <a:off x="548640" y="1188720"/>
            <a:ext cx="11063880" cy="202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ipconfig (Windows) / ifconfig (UNIX/Linux) — IP, gateway info.</a:t>
            </a:r>
            <a:endParaRPr b="0" lang="en-US" sz="18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ipconfig /all — hostname, when IP obtained.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ping — echo packet; tests reachability + round-trip; shows TTL.</a:t>
            </a:r>
            <a:endParaRPr b="0" lang="en-US" sz="18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ping -? — explore options.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tracert / traceroute — path/hops to destination.</a:t>
            </a:r>
            <a:endParaRPr b="0" lang="en-US" sz="18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Useful for troubleshooting; NOT reliable for forensics.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87" name="Rectangl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88" name="TextBox 6"/>
          <p:cNvSpPr/>
          <p:nvPr/>
        </p:nvSpPr>
        <p:spPr>
          <a:xfrm>
            <a:off x="4248000" y="6565320"/>
            <a:ext cx="36648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IT 359/360  •  Chapter 1: Computer Forensics  •  42/58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e6f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90" name="TextBox 2"/>
          <p:cNvSpPr/>
          <p:nvPr/>
        </p:nvSpPr>
        <p:spPr>
          <a:xfrm>
            <a:off x="646920" y="2743200"/>
            <a:ext cx="1086732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4800" spc="-1" strike="noStrike">
                <a:solidFill>
                  <a:srgbClr val="ffffff"/>
                </a:solidFill>
                <a:latin typeface="Calibri"/>
              </a:rPr>
              <a:t>Obscured Info &amp; Anti-Forensics</a:t>
            </a:r>
            <a:endParaRPr b="0" lang="en-US" sz="4800" spc="-1" strike="noStrike">
              <a:latin typeface="Arial"/>
            </a:endParaRPr>
          </a:p>
        </p:txBody>
      </p:sp>
      <p:sp>
        <p:nvSpPr>
          <p:cNvPr id="291" name="Rectangle 3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92" name="TextBox 4"/>
          <p:cNvSpPr/>
          <p:nvPr/>
        </p:nvSpPr>
        <p:spPr>
          <a:xfrm>
            <a:off x="4248000" y="6565320"/>
            <a:ext cx="36648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IT 359/360  •  Chapter 1: Computer Forensics  •  43/58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2f6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94" name="Rectangle 2"/>
          <p:cNvSpPr/>
          <p:nvPr/>
        </p:nvSpPr>
        <p:spPr>
          <a:xfrm>
            <a:off x="0" y="0"/>
            <a:ext cx="12191400" cy="91404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95" name="TextBox 3"/>
          <p:cNvSpPr/>
          <p:nvPr/>
        </p:nvSpPr>
        <p:spPr>
          <a:xfrm>
            <a:off x="3570840" y="182880"/>
            <a:ext cx="501948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Obscured Information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96" name="TextBox 4"/>
          <p:cNvSpPr/>
          <p:nvPr/>
        </p:nvSpPr>
        <p:spPr>
          <a:xfrm>
            <a:off x="548640" y="1188720"/>
            <a:ext cx="11063880" cy="234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Data hidden or unreadable via:</a:t>
            </a:r>
            <a:endParaRPr b="0" lang="en-US" sz="18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Encryption</a:t>
            </a:r>
            <a:endParaRPr b="0" lang="en-US" sz="16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Steganography</a:t>
            </a:r>
            <a:endParaRPr b="0" lang="en-US" sz="16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Compression</a:t>
            </a:r>
            <a:endParaRPr b="0" lang="en-US" sz="16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Proprietary formats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Used by criminals AND legit companies (protect IP).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May need to extract evidence LIVE if encryption is active.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97" name="Rectangl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98" name="TextBox 6"/>
          <p:cNvSpPr/>
          <p:nvPr/>
        </p:nvSpPr>
        <p:spPr>
          <a:xfrm>
            <a:off x="4248000" y="6565320"/>
            <a:ext cx="36648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IT 359/360  •  Chapter 1: Computer Forensics  •  44/58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2f6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00" name="Rectangle 2"/>
          <p:cNvSpPr/>
          <p:nvPr/>
        </p:nvSpPr>
        <p:spPr>
          <a:xfrm>
            <a:off x="0" y="0"/>
            <a:ext cx="12191400" cy="91404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01" name="TextBox 3"/>
          <p:cNvSpPr/>
          <p:nvPr/>
        </p:nvSpPr>
        <p:spPr>
          <a:xfrm>
            <a:off x="3088440" y="182880"/>
            <a:ext cx="598428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Anti-Forensics Techniques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302" name="TextBox 4"/>
          <p:cNvSpPr/>
          <p:nvPr/>
        </p:nvSpPr>
        <p:spPr>
          <a:xfrm>
            <a:off x="548640" y="1188720"/>
            <a:ext cx="11063880" cy="21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Perpetrators actively hinder investigations.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Hide identity via public networks (libraries, cafes) or destroy logs.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Data destruction — wipe buffers, overwrite, damage devices.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Data hiding — reserved sectors, hidden partitions, fake extensions.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Data transformation — encryption, steganography.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File system alteration — corrupt NTFS structures.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03" name="Rectangl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04" name="TextBox 6"/>
          <p:cNvSpPr/>
          <p:nvPr/>
        </p:nvSpPr>
        <p:spPr>
          <a:xfrm>
            <a:off x="4248000" y="6565320"/>
            <a:ext cx="36648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IT 359/360  •  Chapter 1: Computer Forensics  •  45/58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e6f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06" name="TextBox 2"/>
          <p:cNvSpPr/>
          <p:nvPr/>
        </p:nvSpPr>
        <p:spPr>
          <a:xfrm>
            <a:off x="2170800" y="2743200"/>
            <a:ext cx="781920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4800" spc="-1" strike="noStrike">
                <a:solidFill>
                  <a:srgbClr val="ffffff"/>
                </a:solidFill>
                <a:latin typeface="Calibri"/>
              </a:rPr>
              <a:t>The Daubert Standard</a:t>
            </a:r>
            <a:endParaRPr b="0" lang="en-US" sz="4800" spc="-1" strike="noStrike">
              <a:latin typeface="Arial"/>
            </a:endParaRPr>
          </a:p>
        </p:txBody>
      </p:sp>
      <p:sp>
        <p:nvSpPr>
          <p:cNvPr id="307" name="Rectangle 3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08" name="TextBox 4"/>
          <p:cNvSpPr/>
          <p:nvPr/>
        </p:nvSpPr>
        <p:spPr>
          <a:xfrm>
            <a:off x="4248000" y="6565320"/>
            <a:ext cx="36648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IT 359/360  •  Chapter 1: Computer Forensics  •  46/58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2f6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0" name="Rectangle 2"/>
          <p:cNvSpPr/>
          <p:nvPr/>
        </p:nvSpPr>
        <p:spPr>
          <a:xfrm>
            <a:off x="0" y="0"/>
            <a:ext cx="12191400" cy="91404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1" name="TextBox 3"/>
          <p:cNvSpPr/>
          <p:nvPr/>
        </p:nvSpPr>
        <p:spPr>
          <a:xfrm>
            <a:off x="4021920" y="182880"/>
            <a:ext cx="411732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Daubert Standard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312" name="TextBox 4"/>
          <p:cNvSpPr/>
          <p:nvPr/>
        </p:nvSpPr>
        <p:spPr>
          <a:xfrm>
            <a:off x="548640" y="1188720"/>
            <a:ext cx="11063880" cy="328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Legal rule for admitting expert scientific testimony.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Judges assess if reasoning + methodology are scientifically valid.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Factors:</a:t>
            </a:r>
            <a:endParaRPr b="0" lang="en-US" sz="18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Testability</a:t>
            </a:r>
            <a:endParaRPr b="0" lang="en-US" sz="16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Peer review</a:t>
            </a:r>
            <a:endParaRPr b="0" lang="en-US" sz="16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Known error rates</a:t>
            </a:r>
            <a:endParaRPr b="0" lang="en-US" sz="16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Established standards</a:t>
            </a:r>
            <a:endParaRPr b="0" lang="en-US" sz="16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General acceptance in scientific community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For computer forensics: use widely-accepted methods, document everything, strict chain of custody.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13" name="Rectangl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4" name="TextBox 6"/>
          <p:cNvSpPr/>
          <p:nvPr/>
        </p:nvSpPr>
        <p:spPr>
          <a:xfrm>
            <a:off x="4248000" y="6565320"/>
            <a:ext cx="36648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IT 359/360  •  Chapter 1: Computer Forensics  •  47/58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e6f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6" name="TextBox 2"/>
          <p:cNvSpPr/>
          <p:nvPr/>
        </p:nvSpPr>
        <p:spPr>
          <a:xfrm>
            <a:off x="-80640" y="2743200"/>
            <a:ext cx="1232280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4800" spc="-1" strike="noStrike">
                <a:solidFill>
                  <a:srgbClr val="ffffff"/>
                </a:solidFill>
                <a:latin typeface="Calibri"/>
              </a:rPr>
              <a:t>US Laws Affecting Digital Forensics</a:t>
            </a:r>
            <a:endParaRPr b="0" lang="en-US" sz="4800" spc="-1" strike="noStrike">
              <a:latin typeface="Arial"/>
            </a:endParaRPr>
          </a:p>
        </p:txBody>
      </p:sp>
      <p:sp>
        <p:nvSpPr>
          <p:cNvPr id="317" name="Rectangle 3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8" name="TextBox 4"/>
          <p:cNvSpPr/>
          <p:nvPr/>
        </p:nvSpPr>
        <p:spPr>
          <a:xfrm>
            <a:off x="4248000" y="6565320"/>
            <a:ext cx="36648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IT 359/360  •  Chapter 1: Computer Forensics  •  48/58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2f6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20" name="Rectangle 2"/>
          <p:cNvSpPr/>
          <p:nvPr/>
        </p:nvSpPr>
        <p:spPr>
          <a:xfrm>
            <a:off x="0" y="0"/>
            <a:ext cx="12191400" cy="91404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21" name="TextBox 3"/>
          <p:cNvSpPr/>
          <p:nvPr/>
        </p:nvSpPr>
        <p:spPr>
          <a:xfrm>
            <a:off x="4011120" y="182880"/>
            <a:ext cx="413892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Key US Laws (1/3)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322" name="TextBox 4"/>
          <p:cNvSpPr/>
          <p:nvPr/>
        </p:nvSpPr>
        <p:spPr>
          <a:xfrm>
            <a:off x="548640" y="1188720"/>
            <a:ext cx="11063880" cy="225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Federal Privacy Act 1974 — federal agency record systems.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Privacy Protection Act 1980 (PPA) — protects journalists' work product.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FISA 1978 — foreign intel collection; FISA court warrant.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ECPA 1986 — electronic comm privacy/disclosure/interception.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Computer Security Act 1987 — federal computer security minimums.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CALEA 1994 — wiretap law; expanded 2004 to wireless + packet.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18 U.S.C. § 2701 — unauthorized access to stored comms; up to 5 yr.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323" name="Rectangl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24" name="TextBox 6"/>
          <p:cNvSpPr/>
          <p:nvPr/>
        </p:nvSpPr>
        <p:spPr>
          <a:xfrm>
            <a:off x="4248000" y="6565320"/>
            <a:ext cx="36648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IT 359/360  •  Chapter 1: Computer Forensics  •  49/58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2f6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26" name="Rectangle 2"/>
          <p:cNvSpPr/>
          <p:nvPr/>
        </p:nvSpPr>
        <p:spPr>
          <a:xfrm>
            <a:off x="0" y="0"/>
            <a:ext cx="12191400" cy="91404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27" name="TextBox 3"/>
          <p:cNvSpPr/>
          <p:nvPr/>
        </p:nvSpPr>
        <p:spPr>
          <a:xfrm>
            <a:off x="4011120" y="182880"/>
            <a:ext cx="413892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Key US Laws (2/3)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328" name="TextBox 4"/>
          <p:cNvSpPr/>
          <p:nvPr/>
        </p:nvSpPr>
        <p:spPr>
          <a:xfrm>
            <a:off x="548640" y="1188720"/>
            <a:ext cx="11063880" cy="244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500" spc="-1" strike="noStrike">
                <a:solidFill>
                  <a:srgbClr val="222222"/>
                </a:solidFill>
                <a:latin typeface="Calibri"/>
              </a:rPr>
              <a:t>Communications Decency Act 1996 — minors + indecent material.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500" spc="-1" strike="noStrike">
                <a:solidFill>
                  <a:srgbClr val="222222"/>
                </a:solidFill>
                <a:latin typeface="Calibri"/>
              </a:rPr>
              <a:t>Telecommunications Act 1996 — privacy/disclosure of in-motion data.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500" spc="-1" strike="noStrike">
                <a:solidFill>
                  <a:srgbClr val="222222"/>
                </a:solidFill>
                <a:latin typeface="Calibri"/>
              </a:rPr>
              <a:t>Child Protection &amp; Sexual Predator Punishment Act 1998.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500" spc="-1" strike="noStrike">
                <a:solidFill>
                  <a:srgbClr val="222222"/>
                </a:solidFill>
                <a:latin typeface="Calibri"/>
              </a:rPr>
              <a:t>COPPA 1998 — online privacy of children under 13.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500" spc="-1" strike="noStrike">
                <a:solidFill>
                  <a:srgbClr val="222222"/>
                </a:solidFill>
                <a:latin typeface="Calibri"/>
              </a:rPr>
              <a:t>DMCA 1998 — anti-circumvention of copyright protection.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500" spc="-1" strike="noStrike">
                <a:solidFill>
                  <a:srgbClr val="222222"/>
                </a:solidFill>
                <a:latin typeface="Calibri"/>
              </a:rPr>
              <a:t>Wireless Communications &amp; Public Safety Act 1999 — GPS, etc.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500" spc="-1" strike="noStrike">
                <a:solidFill>
                  <a:srgbClr val="222222"/>
                </a:solidFill>
                <a:latin typeface="Calibri"/>
              </a:rPr>
              <a:t>USA PATRIOT Act — main law for collecting internet content/metadata.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500" spc="-1" strike="noStrike">
                <a:solidFill>
                  <a:srgbClr val="222222"/>
                </a:solidFill>
                <a:latin typeface="Calibri"/>
              </a:rPr>
              <a:t>Sarbanes-Oxley 2002 — records retention/destruction (public co.).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329" name="Rectangl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30" name="TextBox 6"/>
          <p:cNvSpPr/>
          <p:nvPr/>
        </p:nvSpPr>
        <p:spPr>
          <a:xfrm>
            <a:off x="4248000" y="6565320"/>
            <a:ext cx="36648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IT 359/360  •  Chapter 1: Computer Forensics  •  50/58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2f6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32" name="Rectangle 2"/>
          <p:cNvSpPr/>
          <p:nvPr/>
        </p:nvSpPr>
        <p:spPr>
          <a:xfrm>
            <a:off x="0" y="0"/>
            <a:ext cx="12191400" cy="91404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33" name="TextBox 3"/>
          <p:cNvSpPr/>
          <p:nvPr/>
        </p:nvSpPr>
        <p:spPr>
          <a:xfrm>
            <a:off x="4011120" y="182880"/>
            <a:ext cx="413892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Key US Laws (3/3)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334" name="TextBox 4"/>
          <p:cNvSpPr/>
          <p:nvPr/>
        </p:nvSpPr>
        <p:spPr>
          <a:xfrm>
            <a:off x="548640" y="1188720"/>
            <a:ext cx="11063880" cy="237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18 USC 1030 — Fraud + Related Activity w/ Computers (hacking).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18 USC 1020 — Fraud w/ Access Devices (routers, etc.).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18 USC § 1028A — Identity Theft + Aggravated Identity Theft.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18 USC § 2251 — Sexual Exploitation of Children.</a:t>
            </a:r>
            <a:endParaRPr b="0" lang="en-US" sz="18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§ 2260 — prohibits explicit minor depictions for US import.</a:t>
            </a:r>
            <a:endParaRPr b="0" lang="en-US" sz="16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§ 2252 — possession/distribution/receipt of CP.</a:t>
            </a:r>
            <a:endParaRPr b="0" lang="en-US" sz="16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§ 2252A — activities related to CP material.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335" name="Rectangl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36" name="TextBox 6"/>
          <p:cNvSpPr/>
          <p:nvPr/>
        </p:nvSpPr>
        <p:spPr>
          <a:xfrm>
            <a:off x="4248000" y="6565320"/>
            <a:ext cx="36648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IT 359/360  •  Chapter 1: Computer Forensics  •  51/58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2f6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38" name="Rectangle 2"/>
          <p:cNvSpPr/>
          <p:nvPr/>
        </p:nvSpPr>
        <p:spPr>
          <a:xfrm>
            <a:off x="0" y="0"/>
            <a:ext cx="12191400" cy="91404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39" name="TextBox 3"/>
          <p:cNvSpPr/>
          <p:nvPr/>
        </p:nvSpPr>
        <p:spPr>
          <a:xfrm>
            <a:off x="2859840" y="182880"/>
            <a:ext cx="644148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Warrants &amp; 4th Amendment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340" name="TextBox 4"/>
          <p:cNvSpPr/>
          <p:nvPr/>
        </p:nvSpPr>
        <p:spPr>
          <a:xfrm>
            <a:off x="548640" y="1188720"/>
            <a:ext cx="11063880" cy="225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4th Amendment — protects against unreasonable searches/seizures.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Seizing property OR violating reasonable expectation of privacy = search.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No expectation of privacy in publicly posted info.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Warrants required UNLESS plain sight or proper consent.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Consent issues: scope of consent? proper party to consent?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Warrantless exceptions: border crossings, imminent destruction (US v. David).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Scope: do not exceed warrant (US v. Schlingloff — ID theft warrant + FTK → CP discovery admissible).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341" name="Rectangl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42" name="TextBox 6"/>
          <p:cNvSpPr/>
          <p:nvPr/>
        </p:nvSpPr>
        <p:spPr>
          <a:xfrm>
            <a:off x="4248000" y="6565320"/>
            <a:ext cx="36648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IT 359/360  •  Chapter 1: Computer Forensics  •  52/58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e6f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44" name="TextBox 2"/>
          <p:cNvSpPr/>
          <p:nvPr/>
        </p:nvSpPr>
        <p:spPr>
          <a:xfrm>
            <a:off x="2787120" y="2743200"/>
            <a:ext cx="658656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4800" spc="-1" strike="noStrike">
                <a:solidFill>
                  <a:srgbClr val="ffffff"/>
                </a:solidFill>
                <a:latin typeface="Calibri"/>
              </a:rPr>
              <a:t>Federal Guidelines</a:t>
            </a:r>
            <a:endParaRPr b="0" lang="en-US" sz="4800" spc="-1" strike="noStrike">
              <a:latin typeface="Arial"/>
            </a:endParaRPr>
          </a:p>
        </p:txBody>
      </p:sp>
      <p:sp>
        <p:nvSpPr>
          <p:cNvPr id="345" name="Rectangle 3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46" name="TextBox 4"/>
          <p:cNvSpPr/>
          <p:nvPr/>
        </p:nvSpPr>
        <p:spPr>
          <a:xfrm>
            <a:off x="4248000" y="6565320"/>
            <a:ext cx="36648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IT 359/360  •  Chapter 1: Computer Forensics  •  53/58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2f6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48" name="Rectangle 2"/>
          <p:cNvSpPr/>
          <p:nvPr/>
        </p:nvSpPr>
        <p:spPr>
          <a:xfrm>
            <a:off x="0" y="0"/>
            <a:ext cx="12191400" cy="91404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49" name="TextBox 3"/>
          <p:cNvSpPr/>
          <p:nvPr/>
        </p:nvSpPr>
        <p:spPr>
          <a:xfrm>
            <a:off x="4430160" y="182880"/>
            <a:ext cx="330048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FBI Guidelines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350" name="TextBox 4"/>
          <p:cNvSpPr/>
          <p:nvPr/>
        </p:nvSpPr>
        <p:spPr>
          <a:xfrm>
            <a:off x="548640" y="1188720"/>
            <a:ext cx="11063880" cy="246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Consult FBI + Secret Service guidelines first.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First responders: preserve system state.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Back up ALL data — logs, altered files included.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Activate auditing software.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Secure diverse evidence: drives, logs, emails, phone data.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Always work with COPIES, not originals.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Reference: FBI cybercrimes page.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51" name="Rectangl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52" name="TextBox 6"/>
          <p:cNvSpPr/>
          <p:nvPr/>
        </p:nvSpPr>
        <p:spPr>
          <a:xfrm>
            <a:off x="4248000" y="6565320"/>
            <a:ext cx="36648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IT 359/360  •  Chapter 1: Computer Forensics  •  54/58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2f6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54" name="Rectangle 2"/>
          <p:cNvSpPr/>
          <p:nvPr/>
        </p:nvSpPr>
        <p:spPr>
          <a:xfrm>
            <a:off x="0" y="0"/>
            <a:ext cx="12191400" cy="91404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55" name="TextBox 3"/>
          <p:cNvSpPr/>
          <p:nvPr/>
        </p:nvSpPr>
        <p:spPr>
          <a:xfrm>
            <a:off x="2570760" y="182880"/>
            <a:ext cx="701928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Secret Service — Golden Rules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356" name="TextBox 4"/>
          <p:cNvSpPr/>
          <p:nvPr/>
        </p:nvSpPr>
        <p:spPr>
          <a:xfrm>
            <a:off x="548640" y="1188720"/>
            <a:ext cx="11063880" cy="244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500" spc="-1" strike="noStrike">
                <a:solidFill>
                  <a:srgbClr val="222222"/>
                </a:solidFill>
                <a:latin typeface="Calibri"/>
              </a:rPr>
              <a:t>Ensure scene safety.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500" spc="-1" strike="noStrike">
                <a:solidFill>
                  <a:srgbClr val="222222"/>
                </a:solidFill>
                <a:latin typeface="Calibri"/>
              </a:rPr>
              <a:t>Preserve computer evidence immediately if crime suspected.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500" spc="-1" strike="noStrike">
                <a:solidFill>
                  <a:srgbClr val="222222"/>
                </a:solidFill>
                <a:latin typeface="Calibri"/>
              </a:rPr>
              <a:t>Confirm legal basis: plain view, warrant, or consent.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500" spc="-1" strike="noStrike">
                <a:solidFill>
                  <a:srgbClr val="222222"/>
                </a:solidFill>
                <a:latin typeface="Calibri"/>
              </a:rPr>
              <a:t>Don't access files — if computer off, leave off.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500" spc="-1" strike="noStrike">
                <a:solidFill>
                  <a:srgbClr val="222222"/>
                </a:solidFill>
                <a:latin typeface="Calibri"/>
              </a:rPr>
              <a:t>If on — properly shut down, prepare for transport.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500" spc="-1" strike="noStrike">
                <a:solidFill>
                  <a:srgbClr val="222222"/>
                </a:solidFill>
                <a:latin typeface="Calibri"/>
              </a:rPr>
              <a:t>If destruction suspected — unplug immediately.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500" spc="-1" strike="noStrike">
                <a:solidFill>
                  <a:srgbClr val="222222"/>
                </a:solidFill>
                <a:latin typeface="Calibri"/>
              </a:rPr>
              <a:t>Photograph screens (if on), location, attached media.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500" spc="-1" strike="noStrike">
                <a:solidFill>
                  <a:srgbClr val="222222"/>
                </a:solidFill>
                <a:latin typeface="Calibri"/>
              </a:rPr>
              <a:t>Assess special legal/privacy considerations (doctors, attorneys).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357" name="Rectangl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58" name="TextBox 6"/>
          <p:cNvSpPr/>
          <p:nvPr/>
        </p:nvSpPr>
        <p:spPr>
          <a:xfrm>
            <a:off x="4248000" y="6565320"/>
            <a:ext cx="36648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IT 359/360  •  Chapter 1: Computer Forensics  •  55/58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2f6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60" name="Rectangle 2"/>
          <p:cNvSpPr/>
          <p:nvPr/>
        </p:nvSpPr>
        <p:spPr>
          <a:xfrm>
            <a:off x="0" y="0"/>
            <a:ext cx="12191400" cy="91404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61" name="TextBox 3"/>
          <p:cNvSpPr/>
          <p:nvPr/>
        </p:nvSpPr>
        <p:spPr>
          <a:xfrm>
            <a:off x="4449960" y="182880"/>
            <a:ext cx="326088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RCFL Program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362" name="TextBox 4"/>
          <p:cNvSpPr/>
          <p:nvPr/>
        </p:nvSpPr>
        <p:spPr>
          <a:xfrm>
            <a:off x="548640" y="1188720"/>
            <a:ext cx="11063880" cy="21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Regional Computer Forensics Laboratory — national network.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Funded + supported by FBI; staffed by state/local/federal.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16 RCFLs examine digital evidence for criminal + national security.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Cases: terrorism, child pornography, fraud, homicide.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Trained nearly 5,000 personnel in 2008.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</a:rPr>
              <a:t>More info: www.rcfl.gov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63" name="Rectangl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64" name="TextBox 6"/>
          <p:cNvSpPr/>
          <p:nvPr/>
        </p:nvSpPr>
        <p:spPr>
          <a:xfrm>
            <a:off x="4248000" y="6565320"/>
            <a:ext cx="36648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IT 359/360  •  Chapter 1: Computer Forensics  •  56/58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2f6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66" name="Rectangle 2"/>
          <p:cNvSpPr/>
          <p:nvPr/>
        </p:nvSpPr>
        <p:spPr>
          <a:xfrm>
            <a:off x="0" y="0"/>
            <a:ext cx="12191400" cy="91404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67" name="TextBox 3"/>
          <p:cNvSpPr/>
          <p:nvPr/>
        </p:nvSpPr>
        <p:spPr>
          <a:xfrm>
            <a:off x="4011120" y="182880"/>
            <a:ext cx="413892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Chapter Summary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368" name="TextBox 4"/>
          <p:cNvSpPr/>
          <p:nvPr/>
        </p:nvSpPr>
        <p:spPr>
          <a:xfrm>
            <a:off x="548640" y="1188720"/>
            <a:ext cx="11063880" cy="244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500" spc="-1" strike="noStrike">
                <a:solidFill>
                  <a:srgbClr val="222222"/>
                </a:solidFill>
                <a:latin typeface="Calibri"/>
              </a:rPr>
              <a:t>Computer/digital forensics = investigative techniques on digital evidence for legal use.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500" spc="-1" strike="noStrike">
                <a:solidFill>
                  <a:srgbClr val="222222"/>
                </a:solidFill>
                <a:latin typeface="Calibri"/>
              </a:rPr>
              <a:t>3-stage process: Collect → Analyze → Present.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500" spc="-1" strike="noStrike">
                <a:solidFill>
                  <a:srgbClr val="222222"/>
                </a:solidFill>
                <a:latin typeface="Calibri"/>
              </a:rPr>
              <a:t>Challenges: data volume, system complexity, distributed crime scenes.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500" spc="-1" strike="noStrike">
                <a:solidFill>
                  <a:srgbClr val="222222"/>
                </a:solidFill>
                <a:latin typeface="Calibri"/>
              </a:rPr>
              <a:t>Required knowledge: hardware, software (OS + file systems), networking.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500" spc="-1" strike="noStrike">
                <a:solidFill>
                  <a:srgbClr val="222222"/>
                </a:solidFill>
                <a:latin typeface="Calibri"/>
              </a:rPr>
              <a:t>Anti-forensics + obscured info complicate cases.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500" spc="-1" strike="noStrike">
                <a:solidFill>
                  <a:srgbClr val="222222"/>
                </a:solidFill>
                <a:latin typeface="Calibri"/>
              </a:rPr>
              <a:t>Daubert standard governs expert testimony admissibility.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500" spc="-1" strike="noStrike">
                <a:solidFill>
                  <a:srgbClr val="222222"/>
                </a:solidFill>
                <a:latin typeface="Calibri"/>
              </a:rPr>
              <a:t>Key laws: ECPA, PATRIOT Act, FRE 702, 4th Amendment warrants.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500" spc="-1" strike="noStrike">
                <a:solidFill>
                  <a:srgbClr val="222222"/>
                </a:solidFill>
                <a:latin typeface="Calibri"/>
              </a:rPr>
              <a:t>FBI + Secret Service guidelines + RCFL support law enforcement.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369" name="Rectangl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70" name="TextBox 6"/>
          <p:cNvSpPr/>
          <p:nvPr/>
        </p:nvSpPr>
        <p:spPr>
          <a:xfrm>
            <a:off x="4248000" y="6565320"/>
            <a:ext cx="36648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IT 359/360  •  Chapter 1: Computer Forensics  •  57/58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72" name="TextBox 2"/>
          <p:cNvSpPr/>
          <p:nvPr/>
        </p:nvSpPr>
        <p:spPr>
          <a:xfrm>
            <a:off x="3854160" y="2286000"/>
            <a:ext cx="445284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ffffff"/>
                </a:solidFill>
                <a:latin typeface="Calibri"/>
              </a:rPr>
              <a:t>Questions?</a:t>
            </a:r>
            <a:endParaRPr b="0" lang="en-US" sz="5400" spc="-1" strike="noStrike">
              <a:latin typeface="Arial"/>
            </a:endParaRPr>
          </a:p>
        </p:txBody>
      </p:sp>
      <p:sp>
        <p:nvSpPr>
          <p:cNvPr id="373" name="TextBox 3"/>
          <p:cNvSpPr/>
          <p:nvPr/>
        </p:nvSpPr>
        <p:spPr>
          <a:xfrm>
            <a:off x="3876120" y="3657600"/>
            <a:ext cx="440856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bed9f2"/>
                </a:solidFill>
                <a:latin typeface="Calibri"/>
              </a:rPr>
              <a:t>Chapter 1 — Discussion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74" name="Rectangle 4"/>
          <p:cNvSpPr/>
          <p:nvPr/>
        </p:nvSpPr>
        <p:spPr>
          <a:xfrm>
            <a:off x="731520" y="3611880"/>
            <a:ext cx="2285640" cy="45360"/>
          </a:xfrm>
          <a:prstGeom prst="rect">
            <a:avLst/>
          </a:prstGeom>
          <a:solidFill>
            <a:srgbClr val="1e6f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2026-05-09T20:45:33Z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